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rimo" panose="020B0604020202020204" charset="0"/>
      <p:regular r:id="rId16"/>
    </p:embeddedFont>
    <p:embeddedFont>
      <p:font typeface="Arimo Bold" panose="020B0604020202020204" charset="0"/>
      <p:regular r:id="rId17"/>
    </p:embeddedFont>
    <p:embeddedFont>
      <p:font typeface="Black Mango" panose="020B0604020202020204" charset="0"/>
      <p:regular r:id="rId18"/>
    </p:embeddedFont>
    <p:embeddedFont>
      <p:font typeface="Black Mango Bold" panose="020B0604020202020204" charset="0"/>
      <p:regular r:id="rId19"/>
    </p:embeddedFont>
    <p:embeddedFont>
      <p:font typeface="Lora" panose="020F0502020204030204" pitchFamily="2" charset="0"/>
      <p:regular r:id="rId20"/>
    </p:embeddedFont>
    <p:embeddedFont>
      <p:font typeface="Lora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7.jpe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txBody>
          <a:bodyPr/>
          <a:lstStyle/>
          <a:p>
            <a:endParaRPr lang="en-IN" dirty="0"/>
          </a:p>
        </p:txBody>
      </p:sp>
      <p:grpSp>
        <p:nvGrpSpPr>
          <p:cNvPr id="3" name="Group 3"/>
          <p:cNvGrpSpPr/>
          <p:nvPr/>
        </p:nvGrpSpPr>
        <p:grpSpPr>
          <a:xfrm>
            <a:off x="-4052731" y="-6879077"/>
            <a:ext cx="11478766" cy="1147876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2489495" y="7150776"/>
            <a:ext cx="9539610" cy="953961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08768" y="2498865"/>
            <a:ext cx="13034534" cy="7314709"/>
            <a:chOff x="0" y="47625"/>
            <a:chExt cx="17379379" cy="9752945"/>
          </a:xfrm>
        </p:grpSpPr>
        <p:sp>
          <p:nvSpPr>
            <p:cNvPr id="10" name="TextBox 10"/>
            <p:cNvSpPr txBox="1"/>
            <p:nvPr/>
          </p:nvSpPr>
          <p:spPr>
            <a:xfrm>
              <a:off x="0" y="47625"/>
              <a:ext cx="17379379" cy="4448265"/>
            </a:xfrm>
            <a:prstGeom prst="rect">
              <a:avLst/>
            </a:prstGeom>
          </p:spPr>
          <p:txBody>
            <a:bodyPr lIns="0" tIns="0" rIns="0" bIns="0" rtlCol="0" anchor="t">
              <a:spAutoFit/>
            </a:bodyPr>
            <a:lstStyle/>
            <a:p>
              <a:pPr algn="l">
                <a:lnSpc>
                  <a:spcPts val="8708"/>
                </a:lnSpc>
              </a:pPr>
              <a:r>
                <a:rPr lang="en-US" sz="7706" dirty="0">
                  <a:solidFill>
                    <a:srgbClr val="1E0000"/>
                  </a:solidFill>
                  <a:latin typeface="Black Mango"/>
                  <a:ea typeface="Black Mango"/>
                  <a:cs typeface="Black Mango"/>
                  <a:sym typeface="Black Mango"/>
                </a:rPr>
                <a:t>Skin Care Recommendation model using AI and CNN</a:t>
              </a:r>
            </a:p>
          </p:txBody>
        </p:sp>
        <p:sp>
          <p:nvSpPr>
            <p:cNvPr id="11" name="TextBox 11"/>
            <p:cNvSpPr txBox="1"/>
            <p:nvPr/>
          </p:nvSpPr>
          <p:spPr>
            <a:xfrm>
              <a:off x="0" y="4664977"/>
              <a:ext cx="14510060" cy="5135593"/>
            </a:xfrm>
            <a:prstGeom prst="rect">
              <a:avLst/>
            </a:prstGeom>
          </p:spPr>
          <p:txBody>
            <a:bodyPr lIns="0" tIns="0" rIns="0" bIns="0" rtlCol="0" anchor="t">
              <a:spAutoFit/>
            </a:bodyPr>
            <a:lstStyle/>
            <a:p>
              <a:pPr algn="l">
                <a:lnSpc>
                  <a:spcPts val="3011"/>
                </a:lnSpc>
              </a:pPr>
              <a:endParaRPr lang="en-US" sz="2007" b="1" dirty="0">
                <a:solidFill>
                  <a:srgbClr val="1E0000"/>
                </a:solidFill>
                <a:latin typeface="Lora Bold"/>
                <a:ea typeface="Lora Bold"/>
                <a:cs typeface="Lora Bold"/>
                <a:sym typeface="Lora Bold"/>
              </a:endParaRPr>
            </a:p>
            <a:p>
              <a:pPr algn="l">
                <a:lnSpc>
                  <a:spcPts val="3011"/>
                </a:lnSpc>
              </a:pPr>
              <a:endParaRPr lang="en-US" sz="2007" b="1" dirty="0">
                <a:solidFill>
                  <a:srgbClr val="1E0000"/>
                </a:solidFill>
                <a:latin typeface="Lora Bold"/>
                <a:ea typeface="Lora Bold"/>
                <a:cs typeface="Lora Bold"/>
                <a:sym typeface="Lora Bold"/>
              </a:endParaRPr>
            </a:p>
            <a:p>
              <a:pPr algn="l">
                <a:lnSpc>
                  <a:spcPts val="3011"/>
                </a:lnSpc>
              </a:pPr>
              <a:r>
                <a:rPr lang="en-US" sz="2007" b="1" dirty="0">
                  <a:solidFill>
                    <a:srgbClr val="1E0000"/>
                  </a:solidFill>
                  <a:latin typeface="Lora Bold"/>
                  <a:ea typeface="Lora Bold"/>
                  <a:cs typeface="Lora Bold"/>
                  <a:sym typeface="Lora Bold"/>
                </a:rPr>
                <a:t>TEAM MEMBERS:</a:t>
              </a:r>
            </a:p>
            <a:p>
              <a:pPr algn="l">
                <a:lnSpc>
                  <a:spcPts val="3011"/>
                </a:lnSpc>
              </a:pPr>
              <a:r>
                <a:rPr lang="en-US" sz="2007" dirty="0" err="1">
                  <a:solidFill>
                    <a:srgbClr val="1E0000"/>
                  </a:solidFill>
                  <a:latin typeface="Lora"/>
                  <a:ea typeface="Lora"/>
                  <a:cs typeface="Lora"/>
                  <a:sym typeface="Lora"/>
                </a:rPr>
                <a:t>S.Mohammad</a:t>
              </a:r>
              <a:r>
                <a:rPr lang="en-US" sz="2007" dirty="0">
                  <a:solidFill>
                    <a:srgbClr val="1E0000"/>
                  </a:solidFill>
                  <a:latin typeface="Lora"/>
                  <a:ea typeface="Lora"/>
                  <a:cs typeface="Lora"/>
                  <a:sym typeface="Lora"/>
                </a:rPr>
                <a:t> Shaheed</a:t>
              </a:r>
            </a:p>
            <a:p>
              <a:pPr algn="l">
                <a:lnSpc>
                  <a:spcPts val="3011"/>
                </a:lnSpc>
              </a:pPr>
              <a:r>
                <a:rPr lang="en-US" sz="2007" dirty="0" err="1">
                  <a:solidFill>
                    <a:srgbClr val="1E0000"/>
                  </a:solidFill>
                  <a:latin typeface="Lora"/>
                  <a:ea typeface="Lora"/>
                  <a:cs typeface="Lora"/>
                  <a:sym typeface="Lora"/>
                </a:rPr>
                <a:t>V.Panith</a:t>
              </a:r>
              <a:r>
                <a:rPr lang="en-US" sz="2007" dirty="0">
                  <a:solidFill>
                    <a:srgbClr val="1E0000"/>
                  </a:solidFill>
                  <a:latin typeface="Lora"/>
                  <a:ea typeface="Lora"/>
                  <a:cs typeface="Lora"/>
                  <a:sym typeface="Lora"/>
                </a:rPr>
                <a:t> raj </a:t>
              </a:r>
              <a:r>
                <a:rPr lang="en-US" sz="2007" dirty="0" err="1">
                  <a:solidFill>
                    <a:srgbClr val="1E0000"/>
                  </a:solidFill>
                  <a:latin typeface="Lora"/>
                  <a:ea typeface="Lora"/>
                  <a:cs typeface="Lora"/>
                  <a:sym typeface="Lora"/>
                </a:rPr>
                <a:t>reddy</a:t>
              </a:r>
              <a:endParaRPr lang="en-US" sz="2007" dirty="0">
                <a:solidFill>
                  <a:srgbClr val="1E0000"/>
                </a:solidFill>
                <a:latin typeface="Lora"/>
                <a:ea typeface="Lora"/>
                <a:cs typeface="Lora"/>
                <a:sym typeface="Lora"/>
              </a:endParaRPr>
            </a:p>
            <a:p>
              <a:pPr marL="0" lvl="0" indent="0" algn="l">
                <a:lnSpc>
                  <a:spcPts val="3011"/>
                </a:lnSpc>
                <a:spcBef>
                  <a:spcPct val="0"/>
                </a:spcBef>
              </a:pPr>
              <a:endParaRPr lang="en-US" sz="2007" dirty="0">
                <a:solidFill>
                  <a:srgbClr val="1E0000"/>
                </a:solidFill>
                <a:latin typeface="Lora"/>
                <a:ea typeface="Lora"/>
                <a:cs typeface="Lora"/>
                <a:sym typeface="Lora"/>
              </a:endParaRPr>
            </a:p>
            <a:p>
              <a:pPr marL="0" lvl="0" indent="0" algn="l">
                <a:lnSpc>
                  <a:spcPts val="3011"/>
                </a:lnSpc>
                <a:spcBef>
                  <a:spcPct val="0"/>
                </a:spcBef>
              </a:pPr>
              <a:r>
                <a:rPr lang="en-US" sz="2007" u="none" dirty="0">
                  <a:solidFill>
                    <a:srgbClr val="1E0000"/>
                  </a:solidFill>
                  <a:latin typeface="Lora"/>
                  <a:ea typeface="Lora"/>
                  <a:cs typeface="Lora"/>
                  <a:sym typeface="Lora"/>
                </a:rPr>
                <a:t>Name Of the Institute :</a:t>
              </a:r>
            </a:p>
            <a:p>
              <a:pPr marL="0" lvl="0" indent="0" algn="l">
                <a:lnSpc>
                  <a:spcPts val="3011"/>
                </a:lnSpc>
                <a:spcBef>
                  <a:spcPct val="0"/>
                </a:spcBef>
              </a:pPr>
              <a:r>
                <a:rPr lang="en-US" sz="2007" b="1" dirty="0">
                  <a:solidFill>
                    <a:srgbClr val="1E0000"/>
                  </a:solidFill>
                  <a:latin typeface="Lora Bold"/>
                  <a:ea typeface="Lora Bold"/>
                  <a:cs typeface="Lora Bold"/>
                  <a:sym typeface="Lora Bold"/>
                </a:rPr>
                <a:t>Srinivasa Ramanujan Institute of Technology</a:t>
              </a:r>
              <a:endParaRPr lang="en-US" sz="2007" b="1" u="none" dirty="0">
                <a:solidFill>
                  <a:srgbClr val="1E0000"/>
                </a:solidFill>
                <a:latin typeface="Lora Bold"/>
                <a:ea typeface="Lora Bold"/>
                <a:cs typeface="Lora Bold"/>
                <a:sym typeface="Lora Bold"/>
              </a:endParaRPr>
            </a:p>
            <a:p>
              <a:pPr marL="0" lvl="0" indent="0" algn="l">
                <a:lnSpc>
                  <a:spcPts val="3011"/>
                </a:lnSpc>
                <a:spcBef>
                  <a:spcPct val="0"/>
                </a:spcBef>
              </a:pPr>
              <a:endParaRPr lang="en-US" sz="2007" b="1" u="none" dirty="0">
                <a:solidFill>
                  <a:srgbClr val="1E0000"/>
                </a:solidFill>
                <a:latin typeface="Lora Bold"/>
                <a:ea typeface="Lora Bold"/>
                <a:cs typeface="Lora Bold"/>
                <a:sym typeface="Lora Bold"/>
              </a:endParaRPr>
            </a:p>
            <a:p>
              <a:pPr marL="0" lvl="0" indent="0" algn="l">
                <a:lnSpc>
                  <a:spcPts val="3270"/>
                </a:lnSpc>
                <a:spcBef>
                  <a:spcPct val="0"/>
                </a:spcBef>
              </a:pPr>
              <a:r>
                <a:rPr lang="en-US" sz="2180" u="none" dirty="0">
                  <a:solidFill>
                    <a:srgbClr val="1E0000"/>
                  </a:solidFill>
                  <a:latin typeface="Lora"/>
                  <a:ea typeface="Lora"/>
                  <a:cs typeface="Lora"/>
                  <a:sym typeface="Lora"/>
                </a:rPr>
                <a:t>   </a:t>
              </a:r>
            </a:p>
          </p:txBody>
        </p:sp>
      </p:grpSp>
      <p:pic>
        <p:nvPicPr>
          <p:cNvPr id="14" name="Picture 13" descr="A screenshot of a cell phone&#10;&#10;Description automatically generated">
            <a:extLst>
              <a:ext uri="{FF2B5EF4-FFF2-40B4-BE49-F238E27FC236}">
                <a16:creationId xmlns:a16="http://schemas.microsoft.com/office/drawing/2014/main" id="{FCDA9AA3-4A62-9260-E960-A5E3B4FA8A7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0"/>
            <a:ext cx="18288000" cy="2372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9666" b="-19666"/>
            </a:stretch>
          </a:blipFill>
        </p:spPr>
      </p:sp>
      <p:grpSp>
        <p:nvGrpSpPr>
          <p:cNvPr id="3" name="Group 3"/>
          <p:cNvGrpSpPr/>
          <p:nvPr/>
        </p:nvGrpSpPr>
        <p:grpSpPr>
          <a:xfrm>
            <a:off x="-6051361" y="-8248080"/>
            <a:ext cx="11478766" cy="1147876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813156" y="659748"/>
            <a:ext cx="8116769" cy="1765619"/>
          </a:xfrm>
          <a:prstGeom prst="rect">
            <a:avLst/>
          </a:prstGeom>
        </p:spPr>
        <p:txBody>
          <a:bodyPr lIns="0" tIns="0" rIns="0" bIns="0" rtlCol="0" anchor="t">
            <a:spAutoFit/>
          </a:bodyPr>
          <a:lstStyle/>
          <a:p>
            <a:pPr algn="l">
              <a:lnSpc>
                <a:spcPts val="13761"/>
              </a:lnSpc>
            </a:pPr>
            <a:r>
              <a:rPr lang="en-US" sz="12178" b="1">
                <a:solidFill>
                  <a:srgbClr val="1E0000"/>
                </a:solidFill>
                <a:latin typeface="Black Mango Bold"/>
                <a:ea typeface="Black Mango Bold"/>
                <a:cs typeface="Black Mango Bold"/>
                <a:sym typeface="Black Mango Bold"/>
              </a:rPr>
              <a:t>Abstract</a:t>
            </a:r>
          </a:p>
        </p:txBody>
      </p:sp>
      <p:sp>
        <p:nvSpPr>
          <p:cNvPr id="7" name="Freeform 7"/>
          <p:cNvSpPr/>
          <p:nvPr/>
        </p:nvSpPr>
        <p:spPr>
          <a:xfrm rot="3867266">
            <a:off x="-2351916" y="-3143411"/>
            <a:ext cx="5039164" cy="6891057"/>
          </a:xfrm>
          <a:custGeom>
            <a:avLst/>
            <a:gdLst/>
            <a:ahLst/>
            <a:cxnLst/>
            <a:rect l="l" t="t" r="r" b="b"/>
            <a:pathLst>
              <a:path w="5039164" h="6891057">
                <a:moveTo>
                  <a:pt x="0" y="0"/>
                </a:moveTo>
                <a:lnTo>
                  <a:pt x="5039164" y="0"/>
                </a:lnTo>
                <a:lnTo>
                  <a:pt x="5039164" y="6891057"/>
                </a:lnTo>
                <a:lnTo>
                  <a:pt x="0" y="68910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636941" y="3154487"/>
            <a:ext cx="17014118" cy="4602417"/>
          </a:xfrm>
          <a:prstGeom prst="rect">
            <a:avLst/>
          </a:prstGeom>
        </p:spPr>
        <p:txBody>
          <a:bodyPr lIns="0" tIns="0" rIns="0" bIns="0" rtlCol="0" anchor="t">
            <a:spAutoFit/>
          </a:bodyPr>
          <a:lstStyle/>
          <a:p>
            <a:pPr marL="0" lvl="0" indent="0" algn="just">
              <a:lnSpc>
                <a:spcPts val="4052"/>
              </a:lnSpc>
              <a:spcBef>
                <a:spcPct val="0"/>
              </a:spcBef>
            </a:pPr>
            <a:r>
              <a:rPr lang="en-US" sz="2701">
                <a:solidFill>
                  <a:srgbClr val="1E0000"/>
                </a:solidFill>
                <a:latin typeface="Lora"/>
                <a:ea typeface="Lora"/>
                <a:cs typeface="Lora"/>
                <a:sym typeface="Lora"/>
              </a:rPr>
              <a:t>This project introduces a comprehensive Skin Analyzer System that combines </a:t>
            </a:r>
            <a:r>
              <a:rPr lang="en-US" sz="2701" b="1">
                <a:solidFill>
                  <a:srgbClr val="1E0000"/>
                </a:solidFill>
                <a:latin typeface="Lora Bold"/>
                <a:ea typeface="Lora Bold"/>
                <a:cs typeface="Lora Bold"/>
                <a:sym typeface="Lora Bold"/>
              </a:rPr>
              <a:t>Convolutional Neural Networks (CNNs</a:t>
            </a:r>
            <a:r>
              <a:rPr lang="en-US" sz="2701">
                <a:solidFill>
                  <a:srgbClr val="1E0000"/>
                </a:solidFill>
                <a:latin typeface="Lora"/>
                <a:ea typeface="Lora"/>
                <a:cs typeface="Lora"/>
                <a:sym typeface="Lora"/>
              </a:rPr>
              <a:t>), </a:t>
            </a:r>
            <a:r>
              <a:rPr lang="en-US" sz="2701" b="1">
                <a:solidFill>
                  <a:srgbClr val="1E0000"/>
                </a:solidFill>
                <a:latin typeface="Lora Bold"/>
                <a:ea typeface="Lora Bold"/>
                <a:cs typeface="Lora Bold"/>
                <a:sym typeface="Lora Bold"/>
              </a:rPr>
              <a:t>n8n workflow automation</a:t>
            </a:r>
            <a:r>
              <a:rPr lang="en-US" sz="2701">
                <a:solidFill>
                  <a:srgbClr val="1E0000"/>
                </a:solidFill>
                <a:latin typeface="Lora"/>
                <a:ea typeface="Lora"/>
                <a:cs typeface="Lora"/>
                <a:sym typeface="Lora"/>
              </a:rPr>
              <a:t>, and a custom-built </a:t>
            </a:r>
            <a:r>
              <a:rPr lang="en-US" sz="2701" b="1">
                <a:solidFill>
                  <a:srgbClr val="1E0000"/>
                </a:solidFill>
                <a:latin typeface="Lora Bold"/>
                <a:ea typeface="Lora Bold"/>
                <a:cs typeface="Lora Bold"/>
                <a:sym typeface="Lora Bold"/>
              </a:rPr>
              <a:t>CSS-based user interface</a:t>
            </a:r>
            <a:r>
              <a:rPr lang="en-US" sz="2701">
                <a:solidFill>
                  <a:srgbClr val="1E0000"/>
                </a:solidFill>
                <a:latin typeface="Lora"/>
                <a:ea typeface="Lora"/>
                <a:cs typeface="Lora"/>
                <a:sym typeface="Lora"/>
              </a:rPr>
              <a:t> to deliver personalized skincare insights. Users can upload facial images through a clean and responsive front-end interface styled with CSS. These images are processed by a trained CNN model that identifies the user’s skin type (e.g., oily, dry, combination) and detects common skin concerns such as acne, pigmentation, or dryness. The analysis results are then passed through n8n workflows, which automate tasks such as data handling, result formatting, and delivering customized skincare advice and recommendations. This seamless integration of deep learning, automation, and user-friendly design demonstrates an efficient, end-to-end solution suitable for skincare apps, wellness platforms, or cosmetic advisory systems.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9666" b="-19666"/>
            </a:stretch>
          </a:blipFill>
        </p:spPr>
      </p:sp>
      <p:grpSp>
        <p:nvGrpSpPr>
          <p:cNvPr id="3" name="Group 3"/>
          <p:cNvGrpSpPr/>
          <p:nvPr/>
        </p:nvGrpSpPr>
        <p:grpSpPr>
          <a:xfrm>
            <a:off x="-2006269" y="-7062372"/>
            <a:ext cx="11851084" cy="12661265"/>
            <a:chOff x="0" y="0"/>
            <a:chExt cx="812800" cy="868366"/>
          </a:xfrm>
        </p:grpSpPr>
        <p:sp>
          <p:nvSpPr>
            <p:cNvPr id="4" name="Freeform 4"/>
            <p:cNvSpPr/>
            <p:nvPr/>
          </p:nvSpPr>
          <p:spPr>
            <a:xfrm>
              <a:off x="0" y="0"/>
              <a:ext cx="812800" cy="868366"/>
            </a:xfrm>
            <a:custGeom>
              <a:avLst/>
              <a:gdLst/>
              <a:ahLst/>
              <a:cxnLst/>
              <a:rect l="l" t="t" r="r" b="b"/>
              <a:pathLst>
                <a:path w="812800" h="868366">
                  <a:moveTo>
                    <a:pt x="406400" y="0"/>
                  </a:moveTo>
                  <a:cubicBezTo>
                    <a:pt x="181951" y="0"/>
                    <a:pt x="0" y="194390"/>
                    <a:pt x="0" y="434183"/>
                  </a:cubicBezTo>
                  <a:cubicBezTo>
                    <a:pt x="0" y="673975"/>
                    <a:pt x="181951" y="868366"/>
                    <a:pt x="406400" y="868366"/>
                  </a:cubicBezTo>
                  <a:cubicBezTo>
                    <a:pt x="630849" y="868366"/>
                    <a:pt x="812800" y="673975"/>
                    <a:pt x="812800" y="434183"/>
                  </a:cubicBezTo>
                  <a:cubicBezTo>
                    <a:pt x="812800" y="194390"/>
                    <a:pt x="630849" y="0"/>
                    <a:pt x="406400" y="0"/>
                  </a:cubicBezTo>
                  <a:close/>
                </a:path>
              </a:pathLst>
            </a:custGeom>
            <a:solidFill>
              <a:srgbClr val="B1D8B7">
                <a:alpha val="80000"/>
              </a:srgbClr>
            </a:solidFill>
          </p:spPr>
        </p:sp>
        <p:sp>
          <p:nvSpPr>
            <p:cNvPr id="5" name="TextBox 5"/>
            <p:cNvSpPr txBox="1"/>
            <p:nvPr/>
          </p:nvSpPr>
          <p:spPr>
            <a:xfrm>
              <a:off x="76200" y="43309"/>
              <a:ext cx="660400" cy="74364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8270511" y="1040311"/>
            <a:ext cx="5769507" cy="8385693"/>
          </a:xfrm>
          <a:prstGeom prst="rect">
            <a:avLst/>
          </a:prstGeom>
        </p:spPr>
        <p:txBody>
          <a:bodyPr lIns="0" tIns="0" rIns="0" bIns="0" rtlCol="0" anchor="t">
            <a:spAutoFit/>
          </a:bodyPr>
          <a:lstStyle/>
          <a:p>
            <a:pPr algn="l">
              <a:lnSpc>
                <a:spcPts val="5543"/>
              </a:lnSpc>
            </a:pPr>
            <a:r>
              <a:rPr lang="en-US" sz="2771">
                <a:solidFill>
                  <a:srgbClr val="000000"/>
                </a:solidFill>
                <a:latin typeface="Lora"/>
                <a:ea typeface="Lora"/>
                <a:cs typeface="Lora"/>
                <a:sym typeface="Lora"/>
              </a:rPr>
              <a:t>1. Introduction</a:t>
            </a:r>
          </a:p>
          <a:p>
            <a:pPr algn="l">
              <a:lnSpc>
                <a:spcPts val="5543"/>
              </a:lnSpc>
            </a:pPr>
            <a:r>
              <a:rPr lang="en-US" sz="2771">
                <a:solidFill>
                  <a:srgbClr val="000000"/>
                </a:solidFill>
                <a:latin typeface="Lora"/>
                <a:ea typeface="Lora"/>
                <a:cs typeface="Lora"/>
                <a:sym typeface="Lora"/>
              </a:rPr>
              <a:t>2. Problem Statement</a:t>
            </a:r>
          </a:p>
          <a:p>
            <a:pPr algn="l">
              <a:lnSpc>
                <a:spcPts val="5543"/>
              </a:lnSpc>
            </a:pPr>
            <a:r>
              <a:rPr lang="en-US" sz="2771">
                <a:solidFill>
                  <a:srgbClr val="000000"/>
                </a:solidFill>
                <a:latin typeface="Lora"/>
                <a:ea typeface="Lora"/>
                <a:cs typeface="Lora"/>
                <a:sym typeface="Lora"/>
              </a:rPr>
              <a:t>3. Objectives</a:t>
            </a:r>
          </a:p>
          <a:p>
            <a:pPr algn="l">
              <a:lnSpc>
                <a:spcPts val="5543"/>
              </a:lnSpc>
            </a:pPr>
            <a:r>
              <a:rPr lang="en-US" sz="2771">
                <a:solidFill>
                  <a:srgbClr val="000000"/>
                </a:solidFill>
                <a:latin typeface="Lora"/>
                <a:ea typeface="Lora"/>
                <a:cs typeface="Lora"/>
                <a:sym typeface="Lora"/>
              </a:rPr>
              <a:t>4. Literature Survey</a:t>
            </a:r>
          </a:p>
          <a:p>
            <a:pPr algn="l">
              <a:lnSpc>
                <a:spcPts val="5543"/>
              </a:lnSpc>
            </a:pPr>
            <a:r>
              <a:rPr lang="en-US" sz="2771">
                <a:solidFill>
                  <a:srgbClr val="000000"/>
                </a:solidFill>
                <a:latin typeface="Lora"/>
                <a:ea typeface="Lora"/>
                <a:cs typeface="Lora"/>
                <a:sym typeface="Lora"/>
              </a:rPr>
              <a:t>5. Methodology Overview</a:t>
            </a:r>
          </a:p>
          <a:p>
            <a:pPr algn="l">
              <a:lnSpc>
                <a:spcPts val="5543"/>
              </a:lnSpc>
            </a:pPr>
            <a:r>
              <a:rPr lang="en-US" sz="2771">
                <a:solidFill>
                  <a:srgbClr val="000000"/>
                </a:solidFill>
                <a:latin typeface="Lora"/>
                <a:ea typeface="Lora"/>
                <a:cs typeface="Lora"/>
                <a:sym typeface="Lora"/>
              </a:rPr>
              <a:t>6. Skin Tone Detection</a:t>
            </a:r>
          </a:p>
          <a:p>
            <a:pPr algn="l">
              <a:lnSpc>
                <a:spcPts val="5543"/>
              </a:lnSpc>
            </a:pPr>
            <a:r>
              <a:rPr lang="en-US" sz="2771">
                <a:solidFill>
                  <a:srgbClr val="000000"/>
                </a:solidFill>
                <a:latin typeface="Lora"/>
                <a:ea typeface="Lora"/>
                <a:cs typeface="Lora"/>
                <a:sym typeface="Lora"/>
              </a:rPr>
              <a:t>7. Skin Type &amp; Acne Classification</a:t>
            </a:r>
          </a:p>
          <a:p>
            <a:pPr algn="l">
              <a:lnSpc>
                <a:spcPts val="5543"/>
              </a:lnSpc>
            </a:pPr>
            <a:r>
              <a:rPr lang="en-US" sz="2771">
                <a:solidFill>
                  <a:srgbClr val="000000"/>
                </a:solidFill>
                <a:latin typeface="Lora"/>
                <a:ea typeface="Lora"/>
                <a:cs typeface="Lora"/>
                <a:sym typeface="Lora"/>
              </a:rPr>
              <a:t>8. Recommendation Engine</a:t>
            </a:r>
          </a:p>
          <a:p>
            <a:pPr algn="l">
              <a:lnSpc>
                <a:spcPts val="5543"/>
              </a:lnSpc>
            </a:pPr>
            <a:r>
              <a:rPr lang="en-US" sz="2771">
                <a:solidFill>
                  <a:srgbClr val="000000"/>
                </a:solidFill>
                <a:latin typeface="Lora"/>
                <a:ea typeface="Lora"/>
                <a:cs typeface="Lora"/>
                <a:sym typeface="Lora"/>
              </a:rPr>
              <a:t>9. Dataset &amp; Tools</a:t>
            </a:r>
          </a:p>
          <a:p>
            <a:pPr algn="l">
              <a:lnSpc>
                <a:spcPts val="5543"/>
              </a:lnSpc>
            </a:pPr>
            <a:r>
              <a:rPr lang="en-US" sz="2771">
                <a:solidFill>
                  <a:srgbClr val="000000"/>
                </a:solidFill>
                <a:latin typeface="Lora"/>
                <a:ea typeface="Lora"/>
                <a:cs typeface="Lora"/>
                <a:sym typeface="Lora"/>
              </a:rPr>
              <a:t>10. System Architecture</a:t>
            </a:r>
          </a:p>
          <a:p>
            <a:pPr algn="l">
              <a:lnSpc>
                <a:spcPts val="5543"/>
              </a:lnSpc>
            </a:pPr>
            <a:r>
              <a:rPr lang="en-US" sz="2771">
                <a:solidFill>
                  <a:srgbClr val="000000"/>
                </a:solidFill>
                <a:latin typeface="Lora"/>
                <a:ea typeface="Lora"/>
                <a:cs typeface="Lora"/>
                <a:sym typeface="Lora"/>
              </a:rPr>
              <a:t>11. Conclusion</a:t>
            </a:r>
          </a:p>
          <a:p>
            <a:pPr algn="l">
              <a:lnSpc>
                <a:spcPts val="5543"/>
              </a:lnSpc>
            </a:pPr>
            <a:r>
              <a:rPr lang="en-US" sz="2771">
                <a:solidFill>
                  <a:srgbClr val="000000"/>
                </a:solidFill>
                <a:latin typeface="Lora"/>
                <a:ea typeface="Lora"/>
                <a:cs typeface="Lora"/>
                <a:sym typeface="Lora"/>
              </a:rPr>
              <a:t>12. References</a:t>
            </a:r>
          </a:p>
        </p:txBody>
      </p:sp>
      <p:sp>
        <p:nvSpPr>
          <p:cNvPr id="7" name="Freeform 7"/>
          <p:cNvSpPr/>
          <p:nvPr/>
        </p:nvSpPr>
        <p:spPr>
          <a:xfrm rot="-4126691">
            <a:off x="14208816" y="-290497"/>
            <a:ext cx="5653872" cy="7731670"/>
          </a:xfrm>
          <a:custGeom>
            <a:avLst/>
            <a:gdLst/>
            <a:ahLst/>
            <a:cxnLst/>
            <a:rect l="l" t="t" r="r" b="b"/>
            <a:pathLst>
              <a:path w="5653872" h="7731670">
                <a:moveTo>
                  <a:pt x="0" y="0"/>
                </a:moveTo>
                <a:lnTo>
                  <a:pt x="5653872" y="0"/>
                </a:lnTo>
                <a:lnTo>
                  <a:pt x="5653872" y="7731670"/>
                </a:lnTo>
                <a:lnTo>
                  <a:pt x="0" y="77316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485793" y="376187"/>
            <a:ext cx="7397216" cy="1495525"/>
          </a:xfrm>
          <a:prstGeom prst="rect">
            <a:avLst/>
          </a:prstGeom>
        </p:spPr>
        <p:txBody>
          <a:bodyPr lIns="0" tIns="0" rIns="0" bIns="0" rtlCol="0" anchor="t">
            <a:spAutoFit/>
          </a:bodyPr>
          <a:lstStyle/>
          <a:p>
            <a:pPr algn="l">
              <a:lnSpc>
                <a:spcPts val="11321"/>
              </a:lnSpc>
            </a:pPr>
            <a:r>
              <a:rPr lang="en-US" sz="11099" b="1">
                <a:solidFill>
                  <a:srgbClr val="1E0000"/>
                </a:solidFill>
                <a:latin typeface="Black Mango Bold"/>
                <a:ea typeface="Black Mango Bold"/>
                <a:cs typeface="Black Mango Bold"/>
                <a:sym typeface="Black Mango Bold"/>
              </a:rPr>
              <a:t> Content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grpSp>
        <p:nvGrpSpPr>
          <p:cNvPr id="3" name="Group 3"/>
          <p:cNvGrpSpPr/>
          <p:nvPr/>
        </p:nvGrpSpPr>
        <p:grpSpPr>
          <a:xfrm>
            <a:off x="13719381" y="-1787350"/>
            <a:ext cx="6172812" cy="61728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51765"/>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54028" y="377962"/>
            <a:ext cx="11327673" cy="1491975"/>
          </a:xfrm>
          <a:prstGeom prst="rect">
            <a:avLst/>
          </a:prstGeom>
        </p:spPr>
        <p:txBody>
          <a:bodyPr lIns="0" tIns="0" rIns="0" bIns="0" rtlCol="0" anchor="t">
            <a:spAutoFit/>
          </a:bodyPr>
          <a:lstStyle/>
          <a:p>
            <a:pPr algn="l">
              <a:lnSpc>
                <a:spcPts val="11321"/>
              </a:lnSpc>
            </a:pPr>
            <a:r>
              <a:rPr lang="en-US" sz="11099" b="1">
                <a:solidFill>
                  <a:srgbClr val="1E0000"/>
                </a:solidFill>
                <a:latin typeface="Black Mango Bold"/>
                <a:ea typeface="Black Mango Bold"/>
                <a:cs typeface="Black Mango Bold"/>
                <a:sym typeface="Black Mango Bold"/>
              </a:rPr>
              <a:t>INTRODUCTION</a:t>
            </a:r>
          </a:p>
        </p:txBody>
      </p:sp>
      <p:sp>
        <p:nvSpPr>
          <p:cNvPr id="7" name="TextBox 7"/>
          <p:cNvSpPr txBox="1"/>
          <p:nvPr/>
        </p:nvSpPr>
        <p:spPr>
          <a:xfrm>
            <a:off x="654028" y="1986914"/>
            <a:ext cx="13849130" cy="6789422"/>
          </a:xfrm>
          <a:prstGeom prst="rect">
            <a:avLst/>
          </a:prstGeom>
        </p:spPr>
        <p:txBody>
          <a:bodyPr lIns="0" tIns="0" rIns="0" bIns="0" rtlCol="0" anchor="t">
            <a:spAutoFit/>
          </a:bodyPr>
          <a:lstStyle/>
          <a:p>
            <a:pPr algn="l">
              <a:lnSpc>
                <a:spcPts val="5474"/>
              </a:lnSpc>
            </a:pPr>
            <a:r>
              <a:rPr lang="en-US" sz="2737">
                <a:solidFill>
                  <a:srgbClr val="1E0000"/>
                </a:solidFill>
                <a:latin typeface="Lora"/>
                <a:ea typeface="Lora"/>
                <a:cs typeface="Lora"/>
                <a:sym typeface="Lora"/>
              </a:rPr>
              <a:t>- Skin care is an essential part of daily routine, but choosing the right products can be overwhelming.</a:t>
            </a:r>
          </a:p>
          <a:p>
            <a:pPr algn="l">
              <a:lnSpc>
                <a:spcPts val="5474"/>
              </a:lnSpc>
            </a:pPr>
            <a:r>
              <a:rPr lang="en-US" sz="2737">
                <a:solidFill>
                  <a:srgbClr val="1E0000"/>
                </a:solidFill>
                <a:latin typeface="Lora"/>
                <a:ea typeface="Lora"/>
                <a:cs typeface="Lora"/>
                <a:sym typeface="Lora"/>
              </a:rPr>
              <a:t>  - With the wide variety of skin care products available, it’s difficult to determine which one suits an individual's unique skin type and condition.</a:t>
            </a:r>
          </a:p>
          <a:p>
            <a:pPr algn="l">
              <a:lnSpc>
                <a:spcPts val="5474"/>
              </a:lnSpc>
            </a:pPr>
            <a:r>
              <a:rPr lang="en-US" sz="2737">
                <a:solidFill>
                  <a:srgbClr val="1E0000"/>
                </a:solidFill>
                <a:latin typeface="Lora"/>
                <a:ea typeface="Lora"/>
                <a:cs typeface="Lora"/>
                <a:sym typeface="Lora"/>
              </a:rPr>
              <a:t>  - </a:t>
            </a:r>
            <a:r>
              <a:rPr lang="en-US" sz="2737" b="1">
                <a:solidFill>
                  <a:srgbClr val="1E0000"/>
                </a:solidFill>
                <a:latin typeface="Lora Bold"/>
                <a:ea typeface="Lora Bold"/>
                <a:cs typeface="Lora Bold"/>
                <a:sym typeface="Lora Bold"/>
              </a:rPr>
              <a:t>Objective</a:t>
            </a:r>
            <a:r>
              <a:rPr lang="en-US" sz="2737">
                <a:solidFill>
                  <a:srgbClr val="1E0000"/>
                </a:solidFill>
                <a:latin typeface="Lora"/>
                <a:ea typeface="Lora"/>
                <a:cs typeface="Lora"/>
                <a:sym typeface="Lora"/>
              </a:rPr>
              <a:t>: To automate the skin care recommendation process using facial analysis and machine learning, so users can get personalized skin care product suggestions.</a:t>
            </a:r>
          </a:p>
          <a:p>
            <a:pPr algn="l">
              <a:lnSpc>
                <a:spcPts val="5474"/>
              </a:lnSpc>
              <a:spcBef>
                <a:spcPct val="0"/>
              </a:spcBef>
            </a:pPr>
            <a:r>
              <a:rPr lang="en-US" sz="2737">
                <a:solidFill>
                  <a:srgbClr val="1E0000"/>
                </a:solidFill>
                <a:latin typeface="Lora"/>
                <a:ea typeface="Lora"/>
                <a:cs typeface="Lora"/>
                <a:sym typeface="Lora"/>
              </a:rPr>
              <a:t>  - </a:t>
            </a:r>
            <a:r>
              <a:rPr lang="en-US" sz="2737" b="1">
                <a:solidFill>
                  <a:srgbClr val="1E0000"/>
                </a:solidFill>
                <a:latin typeface="Lora Bold"/>
                <a:ea typeface="Lora Bold"/>
                <a:cs typeface="Lora Bold"/>
                <a:sym typeface="Lora Bold"/>
              </a:rPr>
              <a:t>Importance</a:t>
            </a:r>
            <a:r>
              <a:rPr lang="en-US" sz="2737">
                <a:solidFill>
                  <a:srgbClr val="1E0000"/>
                </a:solidFill>
                <a:latin typeface="Lora"/>
                <a:ea typeface="Lora"/>
                <a:cs typeface="Lora"/>
                <a:sym typeface="Lora"/>
              </a:rPr>
              <a:t>: By using facial analysis, this project seeks to provide tailored recommendations that could improve skin health and simplify the skin care routine for individuals.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grpSp>
        <p:nvGrpSpPr>
          <p:cNvPr id="3" name="Group 3"/>
          <p:cNvGrpSpPr/>
          <p:nvPr/>
        </p:nvGrpSpPr>
        <p:grpSpPr>
          <a:xfrm>
            <a:off x="-1436735" y="-728653"/>
            <a:ext cx="6172812" cy="61728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51611" y="741482"/>
            <a:ext cx="10816582" cy="2920725"/>
          </a:xfrm>
          <a:prstGeom prst="rect">
            <a:avLst/>
          </a:prstGeom>
        </p:spPr>
        <p:txBody>
          <a:bodyPr lIns="0" tIns="0" rIns="0" bIns="0" rtlCol="0" anchor="t">
            <a:spAutoFit/>
          </a:bodyPr>
          <a:lstStyle/>
          <a:p>
            <a:pPr algn="l">
              <a:lnSpc>
                <a:spcPts val="11321"/>
              </a:lnSpc>
            </a:pPr>
            <a:r>
              <a:rPr lang="en-US" sz="11099" b="1">
                <a:solidFill>
                  <a:srgbClr val="1E0000"/>
                </a:solidFill>
                <a:latin typeface="Black Mango Bold"/>
                <a:ea typeface="Black Mango Bold"/>
                <a:cs typeface="Black Mango Bold"/>
                <a:sym typeface="Black Mango Bold"/>
              </a:rPr>
              <a:t>PROBLEM STATEMENT</a:t>
            </a:r>
          </a:p>
        </p:txBody>
      </p:sp>
      <p:sp>
        <p:nvSpPr>
          <p:cNvPr id="7" name="Freeform 7"/>
          <p:cNvSpPr/>
          <p:nvPr/>
        </p:nvSpPr>
        <p:spPr>
          <a:xfrm rot="-4901373">
            <a:off x="15520584" y="135665"/>
            <a:ext cx="4605749" cy="6298361"/>
          </a:xfrm>
          <a:custGeom>
            <a:avLst/>
            <a:gdLst/>
            <a:ahLst/>
            <a:cxnLst/>
            <a:rect l="l" t="t" r="r" b="b"/>
            <a:pathLst>
              <a:path w="4605749" h="6298361">
                <a:moveTo>
                  <a:pt x="0" y="0"/>
                </a:moveTo>
                <a:lnTo>
                  <a:pt x="4605749" y="0"/>
                </a:lnTo>
                <a:lnTo>
                  <a:pt x="4605749" y="6298362"/>
                </a:lnTo>
                <a:lnTo>
                  <a:pt x="0" y="62983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3569239" y="4788787"/>
            <a:ext cx="4469531" cy="4469513"/>
            <a:chOff x="0" y="0"/>
            <a:chExt cx="6350000" cy="6349975"/>
          </a:xfrm>
        </p:grpSpPr>
        <p:sp>
          <p:nvSpPr>
            <p:cNvPr id="9" name="Freeform 9"/>
            <p:cNvSpPr/>
            <p:nvPr/>
          </p:nvSpPr>
          <p:spPr>
            <a:xfrm flipH="1">
              <a:off x="0" y="0"/>
              <a:ext cx="6350000" cy="6349975"/>
            </a:xfrm>
            <a:custGeom>
              <a:avLst/>
              <a:gdLst/>
              <a:ahLst/>
              <a:cxnLst/>
              <a:rect l="l" t="t" r="r" b="b"/>
              <a:pathLst>
                <a:path w="6350000" h="6349975">
                  <a:moveTo>
                    <a:pt x="0" y="3175025"/>
                  </a:moveTo>
                  <a:cubicBezTo>
                    <a:pt x="0" y="4928451"/>
                    <a:pt x="1421524" y="6349975"/>
                    <a:pt x="3175000" y="6349975"/>
                  </a:cubicBezTo>
                  <a:cubicBezTo>
                    <a:pt x="4928502" y="6349975"/>
                    <a:pt x="6350000" y="4928451"/>
                    <a:pt x="6350000" y="3175025"/>
                  </a:cubicBezTo>
                  <a:cubicBezTo>
                    <a:pt x="6350000" y="1421511"/>
                    <a:pt x="4928502" y="0"/>
                    <a:pt x="3175000" y="0"/>
                  </a:cubicBezTo>
                  <a:cubicBezTo>
                    <a:pt x="1421498" y="0"/>
                    <a:pt x="0" y="1421511"/>
                    <a:pt x="0" y="3175025"/>
                  </a:cubicBezTo>
                  <a:close/>
                </a:path>
              </a:pathLst>
            </a:custGeom>
            <a:blipFill>
              <a:blip r:embed="rId5"/>
              <a:stretch>
                <a:fillRect t="-31254" b="-18839"/>
              </a:stretch>
            </a:blipFill>
          </p:spPr>
        </p:sp>
      </p:grpSp>
      <p:grpSp>
        <p:nvGrpSpPr>
          <p:cNvPr id="10" name="Group 10"/>
          <p:cNvGrpSpPr/>
          <p:nvPr/>
        </p:nvGrpSpPr>
        <p:grpSpPr>
          <a:xfrm>
            <a:off x="12037398" y="1039846"/>
            <a:ext cx="4490017" cy="4489999"/>
            <a:chOff x="0" y="0"/>
            <a:chExt cx="6350000" cy="6349975"/>
          </a:xfrm>
        </p:grpSpPr>
        <p:sp>
          <p:nvSpPr>
            <p:cNvPr id="11" name="Freeform 11"/>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38434" t="-14094" r="-32813"/>
              </a:stretch>
            </a:blipFill>
          </p:spPr>
        </p:sp>
      </p:grpSp>
      <p:sp>
        <p:nvSpPr>
          <p:cNvPr id="12" name="Freeform 12"/>
          <p:cNvSpPr/>
          <p:nvPr/>
        </p:nvSpPr>
        <p:spPr>
          <a:xfrm rot="804466">
            <a:off x="14425877" y="7983212"/>
            <a:ext cx="3798471" cy="5194409"/>
          </a:xfrm>
          <a:custGeom>
            <a:avLst/>
            <a:gdLst/>
            <a:ahLst/>
            <a:cxnLst/>
            <a:rect l="l" t="t" r="r" b="b"/>
            <a:pathLst>
              <a:path w="3798471" h="5194409">
                <a:moveTo>
                  <a:pt x="0" y="0"/>
                </a:moveTo>
                <a:lnTo>
                  <a:pt x="3798471" y="0"/>
                </a:lnTo>
                <a:lnTo>
                  <a:pt x="3798471" y="5194408"/>
                </a:lnTo>
                <a:lnTo>
                  <a:pt x="0" y="51944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960579" y="4582093"/>
            <a:ext cx="12066558" cy="4394835"/>
          </a:xfrm>
          <a:prstGeom prst="rect">
            <a:avLst/>
          </a:prstGeom>
        </p:spPr>
        <p:txBody>
          <a:bodyPr lIns="0" tIns="0" rIns="0" bIns="0" rtlCol="0" anchor="t">
            <a:spAutoFit/>
          </a:bodyPr>
          <a:lstStyle/>
          <a:p>
            <a:pPr algn="l">
              <a:lnSpc>
                <a:spcPts val="4350"/>
              </a:lnSpc>
            </a:pPr>
            <a:r>
              <a:rPr lang="en-US" sz="2900">
                <a:solidFill>
                  <a:srgbClr val="1E0000"/>
                </a:solidFill>
                <a:latin typeface="Lora"/>
                <a:ea typeface="Lora"/>
                <a:cs typeface="Lora"/>
                <a:sym typeface="Lora"/>
              </a:rPr>
              <a:t>- Selecting the right skin care product can be difficult due to variations in skin types, conditions, and personal preferences.</a:t>
            </a:r>
          </a:p>
          <a:p>
            <a:pPr algn="l">
              <a:lnSpc>
                <a:spcPts val="4350"/>
              </a:lnSpc>
            </a:pPr>
            <a:r>
              <a:rPr lang="en-US" sz="2900">
                <a:solidFill>
                  <a:srgbClr val="1E0000"/>
                </a:solidFill>
                <a:latin typeface="Lora"/>
                <a:ea typeface="Lora"/>
                <a:cs typeface="Lora"/>
                <a:sym typeface="Lora"/>
              </a:rPr>
              <a:t>  - People often don't know what products suit their specific skin needs.</a:t>
            </a:r>
          </a:p>
          <a:p>
            <a:pPr algn="l">
              <a:lnSpc>
                <a:spcPts val="4350"/>
              </a:lnSpc>
            </a:pPr>
            <a:r>
              <a:rPr lang="en-US" sz="2900">
                <a:solidFill>
                  <a:srgbClr val="1E0000"/>
                </a:solidFill>
                <a:latin typeface="Lora"/>
                <a:ea typeface="Lora"/>
                <a:cs typeface="Lora"/>
                <a:sym typeface="Lora"/>
              </a:rPr>
              <a:t>  - </a:t>
            </a:r>
            <a:r>
              <a:rPr lang="en-US" sz="2900" b="1">
                <a:solidFill>
                  <a:srgbClr val="1E0000"/>
                </a:solidFill>
                <a:latin typeface="Lora Bold"/>
                <a:ea typeface="Lora Bold"/>
                <a:cs typeface="Lora Bold"/>
                <a:sym typeface="Lora Bold"/>
              </a:rPr>
              <a:t>Project Goal</a:t>
            </a:r>
            <a:r>
              <a:rPr lang="en-US" sz="2900">
                <a:solidFill>
                  <a:srgbClr val="1E0000"/>
                </a:solidFill>
                <a:latin typeface="Lora"/>
                <a:ea typeface="Lora"/>
                <a:cs typeface="Lora"/>
                <a:sym typeface="Lora"/>
              </a:rPr>
              <a:t>: </a:t>
            </a:r>
          </a:p>
          <a:p>
            <a:pPr algn="l">
              <a:lnSpc>
                <a:spcPts val="4350"/>
              </a:lnSpc>
            </a:pPr>
            <a:r>
              <a:rPr lang="en-US" sz="2900">
                <a:solidFill>
                  <a:srgbClr val="1E0000"/>
                </a:solidFill>
                <a:latin typeface="Lora"/>
                <a:ea typeface="Lora"/>
                <a:cs typeface="Lora"/>
                <a:sym typeface="Lora"/>
              </a:rPr>
              <a:t>To develop a machine learning model that analyzes facial features and recommends the most suitable products for each individual.</a:t>
            </a:r>
          </a:p>
          <a:p>
            <a:pPr marL="0" lvl="0" indent="0" algn="l">
              <a:lnSpc>
                <a:spcPts val="4350"/>
              </a:lnSpc>
              <a:spcBef>
                <a:spcPct val="0"/>
              </a:spcBef>
            </a:pPr>
            <a:endParaRPr lang="en-US" sz="2900">
              <a:solidFill>
                <a:srgbClr val="1E0000"/>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sp>
        <p:nvSpPr>
          <p:cNvPr id="3" name="Freeform 3"/>
          <p:cNvSpPr/>
          <p:nvPr/>
        </p:nvSpPr>
        <p:spPr>
          <a:xfrm rot="1584402">
            <a:off x="159593" y="5924050"/>
            <a:ext cx="4876417" cy="6668500"/>
          </a:xfrm>
          <a:custGeom>
            <a:avLst/>
            <a:gdLst/>
            <a:ahLst/>
            <a:cxnLst/>
            <a:rect l="l" t="t" r="r" b="b"/>
            <a:pathLst>
              <a:path w="4876417" h="6668500">
                <a:moveTo>
                  <a:pt x="0" y="0"/>
                </a:moveTo>
                <a:lnTo>
                  <a:pt x="4876417" y="0"/>
                </a:lnTo>
                <a:lnTo>
                  <a:pt x="4876417" y="6668500"/>
                </a:lnTo>
                <a:lnTo>
                  <a:pt x="0" y="6668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7919183">
            <a:off x="16625153" y="-2386819"/>
            <a:ext cx="4392016" cy="6006082"/>
          </a:xfrm>
          <a:custGeom>
            <a:avLst/>
            <a:gdLst/>
            <a:ahLst/>
            <a:cxnLst/>
            <a:rect l="l" t="t" r="r" b="b"/>
            <a:pathLst>
              <a:path w="4392016" h="6006082">
                <a:moveTo>
                  <a:pt x="0" y="0"/>
                </a:moveTo>
                <a:lnTo>
                  <a:pt x="4392015" y="0"/>
                </a:lnTo>
                <a:lnTo>
                  <a:pt x="4392015" y="6006082"/>
                </a:lnTo>
                <a:lnTo>
                  <a:pt x="0" y="6006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0" y="4597490"/>
            <a:ext cx="18288000" cy="1348361"/>
          </a:xfrm>
          <a:prstGeom prst="rect">
            <a:avLst/>
          </a:prstGeom>
        </p:spPr>
        <p:txBody>
          <a:bodyPr lIns="0" tIns="0" rIns="0" bIns="0" rtlCol="0" anchor="t">
            <a:spAutoFit/>
          </a:bodyPr>
          <a:lstStyle/>
          <a:p>
            <a:pPr marL="0" lvl="0" indent="0" algn="ctr">
              <a:lnSpc>
                <a:spcPts val="9913"/>
              </a:lnSpc>
            </a:pPr>
            <a:r>
              <a:rPr lang="en-US" sz="10546" b="1">
                <a:solidFill>
                  <a:srgbClr val="1E0000"/>
                </a:solidFill>
                <a:latin typeface="Black Mango Bold"/>
                <a:ea typeface="Black Mango Bold"/>
                <a:cs typeface="Black Mango Bold"/>
                <a:sym typeface="Black Mango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graphicFrame>
        <p:nvGraphicFramePr>
          <p:cNvPr id="3" name="Table 3"/>
          <p:cNvGraphicFramePr>
            <a:graphicFrameLocks noGrp="1"/>
          </p:cNvGraphicFramePr>
          <p:nvPr/>
        </p:nvGraphicFramePr>
        <p:xfrm>
          <a:off x="346688" y="323790"/>
          <a:ext cx="17751151" cy="9848849"/>
        </p:xfrm>
        <a:graphic>
          <a:graphicData uri="http://schemas.openxmlformats.org/drawingml/2006/table">
            <a:tbl>
              <a:tblPr/>
              <a:tblGrid>
                <a:gridCol w="2770400">
                  <a:extLst>
                    <a:ext uri="{9D8B030D-6E8A-4147-A177-3AD203B41FA5}">
                      <a16:colId xmlns:a16="http://schemas.microsoft.com/office/drawing/2014/main" val="20000"/>
                    </a:ext>
                  </a:extLst>
                </a:gridCol>
                <a:gridCol w="3354697">
                  <a:extLst>
                    <a:ext uri="{9D8B030D-6E8A-4147-A177-3AD203B41FA5}">
                      <a16:colId xmlns:a16="http://schemas.microsoft.com/office/drawing/2014/main" val="20001"/>
                    </a:ext>
                  </a:extLst>
                </a:gridCol>
                <a:gridCol w="1831470">
                  <a:extLst>
                    <a:ext uri="{9D8B030D-6E8A-4147-A177-3AD203B41FA5}">
                      <a16:colId xmlns:a16="http://schemas.microsoft.com/office/drawing/2014/main" val="20002"/>
                    </a:ext>
                  </a:extLst>
                </a:gridCol>
                <a:gridCol w="3680662">
                  <a:extLst>
                    <a:ext uri="{9D8B030D-6E8A-4147-A177-3AD203B41FA5}">
                      <a16:colId xmlns:a16="http://schemas.microsoft.com/office/drawing/2014/main" val="20003"/>
                    </a:ext>
                  </a:extLst>
                </a:gridCol>
                <a:gridCol w="3149435">
                  <a:extLst>
                    <a:ext uri="{9D8B030D-6E8A-4147-A177-3AD203B41FA5}">
                      <a16:colId xmlns:a16="http://schemas.microsoft.com/office/drawing/2014/main" val="20004"/>
                    </a:ext>
                  </a:extLst>
                </a:gridCol>
                <a:gridCol w="2964487">
                  <a:extLst>
                    <a:ext uri="{9D8B030D-6E8A-4147-A177-3AD203B41FA5}">
                      <a16:colId xmlns:a16="http://schemas.microsoft.com/office/drawing/2014/main" val="20005"/>
                    </a:ext>
                  </a:extLst>
                </a:gridCol>
              </a:tblGrid>
              <a:tr h="1501232">
                <a:tc>
                  <a:txBody>
                    <a:bodyPr/>
                    <a:lstStyle/>
                    <a:p>
                      <a:pPr algn="ctr">
                        <a:lnSpc>
                          <a:spcPts val="2659"/>
                        </a:lnSpc>
                        <a:defRPr/>
                      </a:pPr>
                      <a:r>
                        <a:rPr lang="en-US" sz="1899" b="1">
                          <a:solidFill>
                            <a:srgbClr val="004AAD"/>
                          </a:solidFill>
                          <a:latin typeface="Lora Bold"/>
                          <a:ea typeface="Lora Bold"/>
                          <a:cs typeface="Lora Bold"/>
                          <a:sym typeface="Lora Bold"/>
                        </a:rPr>
                        <a:t>STUDY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4AAD"/>
                          </a:solidFill>
                          <a:latin typeface="Lora Bold"/>
                          <a:ea typeface="Lora Bold"/>
                          <a:cs typeface="Lora Bold"/>
                          <a:sym typeface="Lora Bold"/>
                        </a:rPr>
                        <a:t>TITLE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4AAD"/>
                          </a:solidFill>
                          <a:latin typeface="Lora Bold"/>
                          <a:ea typeface="Lora Bold"/>
                          <a:cs typeface="Lora Bold"/>
                          <a:sym typeface="Lora Bold"/>
                        </a:rPr>
                        <a:t>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endParaRPr lang="en-US" sz="1100"/>
                    </a:p>
                    <a:p>
                      <a:pPr algn="ctr">
                        <a:lnSpc>
                          <a:spcPts val="2659"/>
                        </a:lnSpc>
                      </a:pPr>
                      <a:r>
                        <a:rPr lang="en-US" sz="1899" b="1">
                          <a:solidFill>
                            <a:srgbClr val="004AAD"/>
                          </a:solidFill>
                          <a:latin typeface="Lora Bold"/>
                          <a:ea typeface="Lora Bold"/>
                          <a:cs typeface="Lora Bold"/>
                          <a:sym typeface="Lora Bold"/>
                        </a:rPr>
                        <a:t>KEY CONTRIBUTIONS</a:t>
                      </a:r>
                    </a:p>
                    <a:p>
                      <a:pPr algn="ctr">
                        <a:lnSpc>
                          <a:spcPts val="2659"/>
                        </a:lnSpc>
                      </a:pPr>
                      <a:endParaRPr lang="en-US" sz="1899" b="1">
                        <a:solidFill>
                          <a:srgbClr val="004AAD"/>
                        </a:solidFill>
                        <a:latin typeface="Lora Bold"/>
                        <a:ea typeface="Lora Bold"/>
                        <a:cs typeface="Lora Bold"/>
                        <a:sym typeface="Lora Bold"/>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4AAD"/>
                          </a:solidFill>
                          <a:latin typeface="Lora Bold"/>
                          <a:ea typeface="Lora Bold"/>
                          <a:cs typeface="Lora Bold"/>
                          <a:sym typeface="Lora Bold"/>
                        </a:rPr>
                        <a:t>TECHNIQUES USED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4AAD"/>
                          </a:solidFill>
                          <a:latin typeface="Lora Bold"/>
                          <a:ea typeface="Lora Bold"/>
                          <a:cs typeface="Lora Bold"/>
                          <a:sym typeface="Lora Bold"/>
                        </a:rPr>
                        <a:t>FINDINGS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35902">
                <a:tc>
                  <a:txBody>
                    <a:bodyPr/>
                    <a:lstStyle/>
                    <a:p>
                      <a:pPr algn="ctr">
                        <a:lnSpc>
                          <a:spcPts val="2659"/>
                        </a:lnSpc>
                        <a:defRPr/>
                      </a:pPr>
                      <a:r>
                        <a:rPr lang="en-US" sz="1899" b="1">
                          <a:solidFill>
                            <a:srgbClr val="000000"/>
                          </a:solidFill>
                          <a:latin typeface="Lora Bold"/>
                          <a:ea typeface="Lora Bold"/>
                          <a:cs typeface="Lora Bold"/>
                          <a:sym typeface="Lora Bold"/>
                        </a:rPr>
                        <a:t>Deep Learning for Skin Type Classification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Deep Learning for Automatic Skin Type Classification from Facial Images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 </a:t>
                      </a:r>
                      <a:r>
                        <a:rPr lang="en-US" sz="1799">
                          <a:solidFill>
                            <a:srgbClr val="000000"/>
                          </a:solidFill>
                          <a:latin typeface="Arimo"/>
                          <a:ea typeface="Arimo"/>
                          <a:cs typeface="Arimo"/>
                          <a:sym typeface="Arimo"/>
                        </a:rPr>
                        <a:t>   </a:t>
                      </a:r>
                      <a:r>
                        <a:rPr lang="en-US" sz="1799" b="1">
                          <a:solidFill>
                            <a:srgbClr val="000000"/>
                          </a:solidFill>
                          <a:latin typeface="Arimo Bold"/>
                          <a:ea typeface="Arimo Bold"/>
                          <a:cs typeface="Arimo Bold"/>
                          <a:sym typeface="Arimo Bold"/>
                        </a:rPr>
                        <a:t>   2020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Proposed CNN for classifying skin types like dry, oily, and normal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Convolutional Neural Networks (CNN)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Achieved 90% accuracy in classifying skin types from facial images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70572">
                <a:tc>
                  <a:txBody>
                    <a:bodyPr/>
                    <a:lstStyle/>
                    <a:p>
                      <a:pPr algn="ctr">
                        <a:lnSpc>
                          <a:spcPts val="2659"/>
                        </a:lnSpc>
                        <a:defRPr/>
                      </a:pPr>
                      <a:r>
                        <a:rPr lang="en-US" sz="1899" b="1">
                          <a:solidFill>
                            <a:srgbClr val="000000"/>
                          </a:solidFill>
                          <a:latin typeface="Lora Bold"/>
                          <a:ea typeface="Lora Bold"/>
                          <a:cs typeface="Lora Bold"/>
                          <a:sym typeface="Lora Bold"/>
                        </a:rPr>
                        <a:t>Facial Skin Condition Recognition for Personalized Treatmen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 Facial Skin Condition Recognition for Personalized Treatment*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        2019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Facial Skin Condition Recognition Using Machine Learning for Personalized Treatment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Image processing, Machine learning (SVM, Random Forest)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Successfully detected and recommended treatments for acne and other skin conditions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35902">
                <a:tc>
                  <a:txBody>
                    <a:bodyPr/>
                    <a:lstStyle/>
                    <a:p>
                      <a:pPr algn="ctr">
                        <a:lnSpc>
                          <a:spcPts val="2519"/>
                        </a:lnSpc>
                        <a:defRPr/>
                      </a:pPr>
                      <a:r>
                        <a:rPr lang="en-US" sz="1799" b="1">
                          <a:solidFill>
                            <a:srgbClr val="000000"/>
                          </a:solidFill>
                          <a:latin typeface="Arimo Bold"/>
                          <a:ea typeface="Arimo Bold"/>
                          <a:cs typeface="Arimo Bold"/>
                          <a:sym typeface="Arimo Bold"/>
                        </a:rPr>
                        <a:t>Skin Care Product Recommendation System Using SVM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 Skin Care Product Recommendation System Using SVM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2021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Skin Care Product Recommendation Using Support Vector Machines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Support Vector Machines (SVM)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Efficient product recommendation based on skin type and user preferences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05241">
                <a:tc>
                  <a:txBody>
                    <a:bodyPr/>
                    <a:lstStyle/>
                    <a:p>
                      <a:pPr algn="l">
                        <a:lnSpc>
                          <a:spcPts val="2519"/>
                        </a:lnSpc>
                        <a:defRPr/>
                      </a:pPr>
                      <a:r>
                        <a:rPr lang="en-US" sz="1799" b="1">
                          <a:solidFill>
                            <a:srgbClr val="000000"/>
                          </a:solidFill>
                          <a:latin typeface="Arimo Bold"/>
                          <a:ea typeface="Arimo Bold"/>
                          <a:cs typeface="Arimo Bold"/>
                          <a:sym typeface="Arimo Bold"/>
                        </a:rPr>
                        <a:t>Acne Detection and Treatment Recommendation Using Machine Learning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Arimo Bold"/>
                          <a:ea typeface="Arimo Bold"/>
                          <a:cs typeface="Arimo Bold"/>
                          <a:sym typeface="Arimo Bold"/>
                        </a:rPr>
                        <a:t>Acne Detection and Treatment Recommendation Using Machine Learning Algorithms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2022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b="1">
                          <a:solidFill>
                            <a:srgbClr val="000000"/>
                          </a:solidFill>
                          <a:latin typeface="Arimo Bold"/>
                          <a:ea typeface="Arimo Bold"/>
                          <a:cs typeface="Arimo Bold"/>
                          <a:sym typeface="Arimo Bold"/>
                        </a:rPr>
                        <a:t>Hybrid model combining deep learning and decision trees for personalized skin care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Deep learning (CNN), Decision trees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Lora Bold"/>
                          <a:ea typeface="Lora Bold"/>
                          <a:cs typeface="Lora Bold"/>
                          <a:sym typeface="Lora Bold"/>
                        </a:rPr>
                        <a:t>Enhanced recommendation accuracy by integrating facial recognition and user feedback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grpSp>
        <p:nvGrpSpPr>
          <p:cNvPr id="3" name="Group 3"/>
          <p:cNvGrpSpPr/>
          <p:nvPr/>
        </p:nvGrpSpPr>
        <p:grpSpPr>
          <a:xfrm rot="1006552">
            <a:off x="13503932" y="-6234149"/>
            <a:ext cx="9568135" cy="956813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5" name="TextBox 5"/>
            <p:cNvSpPr txBox="1"/>
            <p:nvPr/>
          </p:nvSpPr>
          <p:spPr>
            <a:xfrm>
              <a:off x="76200" y="38100"/>
              <a:ext cx="660400" cy="698500"/>
            </a:xfrm>
            <a:prstGeom prst="rect">
              <a:avLst/>
            </a:prstGeom>
          </p:spPr>
          <p:txBody>
            <a:bodyPr lIns="47674" tIns="47674" rIns="47674" bIns="47674" rtlCol="0" anchor="ctr"/>
            <a:lstStyle/>
            <a:p>
              <a:pPr algn="ctr">
                <a:lnSpc>
                  <a:spcPts val="2660"/>
                </a:lnSpc>
                <a:spcBef>
                  <a:spcPct val="0"/>
                </a:spcBef>
              </a:pPr>
              <a:endParaRPr/>
            </a:p>
          </p:txBody>
        </p:sp>
      </p:grpSp>
      <p:sp>
        <p:nvSpPr>
          <p:cNvPr id="6" name="TextBox 6"/>
          <p:cNvSpPr txBox="1"/>
          <p:nvPr/>
        </p:nvSpPr>
        <p:spPr>
          <a:xfrm>
            <a:off x="5119998" y="1187439"/>
            <a:ext cx="8048004" cy="1203763"/>
          </a:xfrm>
          <a:prstGeom prst="rect">
            <a:avLst/>
          </a:prstGeom>
        </p:spPr>
        <p:txBody>
          <a:bodyPr lIns="0" tIns="0" rIns="0" bIns="0" rtlCol="0" anchor="t">
            <a:spAutoFit/>
          </a:bodyPr>
          <a:lstStyle/>
          <a:p>
            <a:pPr algn="ctr">
              <a:lnSpc>
                <a:spcPts val="9086"/>
              </a:lnSpc>
            </a:pPr>
            <a:r>
              <a:rPr lang="en-US" sz="8908" b="1">
                <a:solidFill>
                  <a:srgbClr val="1E0000"/>
                </a:solidFill>
                <a:latin typeface="Black Mango Bold"/>
                <a:ea typeface="Black Mango Bold"/>
                <a:cs typeface="Black Mango Bold"/>
                <a:sym typeface="Black Mango Bold"/>
              </a:rPr>
              <a:t>OBJECTIVES</a:t>
            </a:r>
          </a:p>
        </p:txBody>
      </p:sp>
      <p:sp>
        <p:nvSpPr>
          <p:cNvPr id="7" name="TextBox 7"/>
          <p:cNvSpPr txBox="1"/>
          <p:nvPr/>
        </p:nvSpPr>
        <p:spPr>
          <a:xfrm>
            <a:off x="2309846" y="2587362"/>
            <a:ext cx="13668309" cy="487644"/>
          </a:xfrm>
          <a:prstGeom prst="rect">
            <a:avLst/>
          </a:prstGeom>
        </p:spPr>
        <p:txBody>
          <a:bodyPr lIns="0" tIns="0" rIns="0" bIns="0" rtlCol="0" anchor="t">
            <a:spAutoFit/>
          </a:bodyPr>
          <a:lstStyle/>
          <a:p>
            <a:pPr marL="0" lvl="0" indent="0" algn="ctr">
              <a:lnSpc>
                <a:spcPts val="4050"/>
              </a:lnSpc>
              <a:spcBef>
                <a:spcPct val="0"/>
              </a:spcBef>
            </a:pPr>
            <a:r>
              <a:rPr lang="en-US" sz="2700">
                <a:solidFill>
                  <a:srgbClr val="1E0000"/>
                </a:solidFill>
                <a:latin typeface="Lora"/>
                <a:ea typeface="Lora"/>
                <a:cs typeface="Lora"/>
                <a:sym typeface="Lora"/>
              </a:rPr>
              <a:t>Presentations are communication tools that can be used as demonstrations.</a:t>
            </a:r>
          </a:p>
        </p:txBody>
      </p:sp>
      <p:sp>
        <p:nvSpPr>
          <p:cNvPr id="8" name="Freeform 8"/>
          <p:cNvSpPr/>
          <p:nvPr/>
        </p:nvSpPr>
        <p:spPr>
          <a:xfrm rot="-3773478">
            <a:off x="16791497" y="5361669"/>
            <a:ext cx="2993005" cy="4092934"/>
          </a:xfrm>
          <a:custGeom>
            <a:avLst/>
            <a:gdLst/>
            <a:ahLst/>
            <a:cxnLst/>
            <a:rect l="l" t="t" r="r" b="b"/>
            <a:pathLst>
              <a:path w="2993005" h="4092934">
                <a:moveTo>
                  <a:pt x="0" y="0"/>
                </a:moveTo>
                <a:lnTo>
                  <a:pt x="2993006" y="0"/>
                </a:lnTo>
                <a:lnTo>
                  <a:pt x="2993006" y="4092934"/>
                </a:lnTo>
                <a:lnTo>
                  <a:pt x="0" y="40929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5487863" flipH="1">
            <a:off x="-480282" y="-100510"/>
            <a:ext cx="3017965" cy="4127067"/>
          </a:xfrm>
          <a:custGeom>
            <a:avLst/>
            <a:gdLst/>
            <a:ahLst/>
            <a:cxnLst/>
            <a:rect l="l" t="t" r="r" b="b"/>
            <a:pathLst>
              <a:path w="3017965" h="4127067">
                <a:moveTo>
                  <a:pt x="3017964" y="0"/>
                </a:moveTo>
                <a:lnTo>
                  <a:pt x="0" y="0"/>
                </a:lnTo>
                <a:lnTo>
                  <a:pt x="0" y="4127067"/>
                </a:lnTo>
                <a:lnTo>
                  <a:pt x="3017964" y="4127067"/>
                </a:lnTo>
                <a:lnTo>
                  <a:pt x="3017964"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1800846" y="6890935"/>
            <a:ext cx="2239148" cy="2239139"/>
            <a:chOff x="0" y="0"/>
            <a:chExt cx="6350000" cy="6349975"/>
          </a:xfrm>
        </p:grpSpPr>
        <p:sp>
          <p:nvSpPr>
            <p:cNvPr id="11" name="Freeform 11"/>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33157" r="-16935"/>
              </a:stretch>
            </a:blipFill>
          </p:spPr>
        </p:sp>
      </p:grpSp>
      <p:grpSp>
        <p:nvGrpSpPr>
          <p:cNvPr id="12" name="Group 12"/>
          <p:cNvGrpSpPr/>
          <p:nvPr/>
        </p:nvGrpSpPr>
        <p:grpSpPr>
          <a:xfrm>
            <a:off x="1800846" y="3932083"/>
            <a:ext cx="2239148" cy="2239139"/>
            <a:chOff x="0" y="0"/>
            <a:chExt cx="6350000" cy="6349975"/>
          </a:xfrm>
        </p:grpSpPr>
        <p:sp>
          <p:nvSpPr>
            <p:cNvPr id="13" name="Freeform 13"/>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t="-41087" b="-9006"/>
              </a:stretch>
            </a:blipFill>
          </p:spPr>
        </p:sp>
      </p:grpSp>
      <p:sp>
        <p:nvSpPr>
          <p:cNvPr id="14" name="TextBox 14"/>
          <p:cNvSpPr txBox="1"/>
          <p:nvPr/>
        </p:nvSpPr>
        <p:spPr>
          <a:xfrm>
            <a:off x="4251340" y="4687798"/>
            <a:ext cx="4242183" cy="680085"/>
          </a:xfrm>
          <a:prstGeom prst="rect">
            <a:avLst/>
          </a:prstGeom>
        </p:spPr>
        <p:txBody>
          <a:bodyPr lIns="0" tIns="0" rIns="0" bIns="0" rtlCol="0" anchor="t">
            <a:spAutoFit/>
          </a:bodyPr>
          <a:lstStyle/>
          <a:p>
            <a:pPr algn="l">
              <a:lnSpc>
                <a:spcPts val="2849"/>
              </a:lnSpc>
              <a:spcBef>
                <a:spcPct val="0"/>
              </a:spcBef>
            </a:pPr>
            <a:r>
              <a:rPr lang="en-US" sz="1899">
                <a:solidFill>
                  <a:srgbClr val="1E0000"/>
                </a:solidFill>
                <a:latin typeface="Lora"/>
                <a:ea typeface="Lora"/>
                <a:cs typeface="Lora"/>
                <a:sym typeface="Lora"/>
              </a:rPr>
              <a:t>Accurately Detect Facial Skin Tone Using Image Segmentation</a:t>
            </a:r>
          </a:p>
        </p:txBody>
      </p:sp>
      <p:sp>
        <p:nvSpPr>
          <p:cNvPr id="15" name="TextBox 15"/>
          <p:cNvSpPr txBox="1"/>
          <p:nvPr/>
        </p:nvSpPr>
        <p:spPr>
          <a:xfrm>
            <a:off x="4412367" y="7646650"/>
            <a:ext cx="4545895" cy="680085"/>
          </a:xfrm>
          <a:prstGeom prst="rect">
            <a:avLst/>
          </a:prstGeom>
        </p:spPr>
        <p:txBody>
          <a:bodyPr lIns="0" tIns="0" rIns="0" bIns="0" rtlCol="0" anchor="t">
            <a:spAutoFit/>
          </a:bodyPr>
          <a:lstStyle/>
          <a:p>
            <a:pPr marL="0" lvl="0" indent="0" algn="l">
              <a:lnSpc>
                <a:spcPts val="2849"/>
              </a:lnSpc>
              <a:spcBef>
                <a:spcPct val="0"/>
              </a:spcBef>
            </a:pPr>
            <a:r>
              <a:rPr lang="en-US" sz="1899">
                <a:solidFill>
                  <a:srgbClr val="1E0000"/>
                </a:solidFill>
                <a:latin typeface="Lora"/>
                <a:ea typeface="Lora"/>
                <a:cs typeface="Lora"/>
                <a:sym typeface="Lora"/>
              </a:rPr>
              <a:t>Automated Workflows Generated using JSON and n8n</a:t>
            </a:r>
          </a:p>
        </p:txBody>
      </p:sp>
      <p:grpSp>
        <p:nvGrpSpPr>
          <p:cNvPr id="16" name="Group 16"/>
          <p:cNvGrpSpPr/>
          <p:nvPr/>
        </p:nvGrpSpPr>
        <p:grpSpPr>
          <a:xfrm>
            <a:off x="9330635" y="6668334"/>
            <a:ext cx="2239148" cy="2239139"/>
            <a:chOff x="0" y="0"/>
            <a:chExt cx="6350000" cy="6349975"/>
          </a:xfrm>
        </p:grpSpPr>
        <p:sp>
          <p:nvSpPr>
            <p:cNvPr id="17" name="Freeform 17"/>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t="-41087" b="-9006"/>
              </a:stretch>
            </a:blipFill>
          </p:spPr>
        </p:sp>
      </p:grpSp>
      <p:grpSp>
        <p:nvGrpSpPr>
          <p:cNvPr id="18" name="Group 18"/>
          <p:cNvGrpSpPr/>
          <p:nvPr/>
        </p:nvGrpSpPr>
        <p:grpSpPr>
          <a:xfrm>
            <a:off x="9330635" y="3932083"/>
            <a:ext cx="2239148" cy="2239139"/>
            <a:chOff x="0" y="0"/>
            <a:chExt cx="6350000" cy="6349975"/>
          </a:xfrm>
        </p:grpSpPr>
        <p:sp>
          <p:nvSpPr>
            <p:cNvPr id="19" name="Freeform 19"/>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33157" r="-16935"/>
              </a:stretch>
            </a:blipFill>
          </p:spPr>
        </p:sp>
      </p:grpSp>
      <p:sp>
        <p:nvSpPr>
          <p:cNvPr id="20" name="TextBox 20"/>
          <p:cNvSpPr txBox="1"/>
          <p:nvPr/>
        </p:nvSpPr>
        <p:spPr>
          <a:xfrm>
            <a:off x="11779334" y="4687798"/>
            <a:ext cx="4545895" cy="1032510"/>
          </a:xfrm>
          <a:prstGeom prst="rect">
            <a:avLst/>
          </a:prstGeom>
        </p:spPr>
        <p:txBody>
          <a:bodyPr lIns="0" tIns="0" rIns="0" bIns="0" rtlCol="0" anchor="t">
            <a:spAutoFit/>
          </a:bodyPr>
          <a:lstStyle/>
          <a:p>
            <a:pPr marL="0" lvl="0" indent="0" algn="l">
              <a:lnSpc>
                <a:spcPts val="2849"/>
              </a:lnSpc>
              <a:spcBef>
                <a:spcPct val="0"/>
              </a:spcBef>
            </a:pPr>
            <a:r>
              <a:rPr lang="en-US" sz="1899">
                <a:solidFill>
                  <a:srgbClr val="1E0000"/>
                </a:solidFill>
                <a:latin typeface="Lora"/>
                <a:ea typeface="Lora"/>
                <a:cs typeface="Lora"/>
                <a:sym typeface="Lora"/>
              </a:rPr>
              <a:t>Classify Skin Type Using a Pre-trained Deep Learning Model</a:t>
            </a:r>
          </a:p>
          <a:p>
            <a:pPr marL="0" lvl="0" indent="0" algn="l">
              <a:lnSpc>
                <a:spcPts val="2849"/>
              </a:lnSpc>
              <a:spcBef>
                <a:spcPct val="0"/>
              </a:spcBef>
            </a:pPr>
            <a:r>
              <a:rPr lang="en-US" sz="1899" u="none">
                <a:solidFill>
                  <a:srgbClr val="1E0000"/>
                </a:solidFill>
                <a:latin typeface="Lora"/>
                <a:ea typeface="Lora"/>
                <a:cs typeface="Lora"/>
                <a:sym typeface="Lora"/>
              </a:rPr>
              <a:t>EfficientNetB0 is used</a:t>
            </a:r>
          </a:p>
        </p:txBody>
      </p:sp>
      <p:sp>
        <p:nvSpPr>
          <p:cNvPr id="22" name="TextBox 22"/>
          <p:cNvSpPr txBox="1"/>
          <p:nvPr/>
        </p:nvSpPr>
        <p:spPr>
          <a:xfrm>
            <a:off x="11779334" y="7646650"/>
            <a:ext cx="4545895" cy="1032510"/>
          </a:xfrm>
          <a:prstGeom prst="rect">
            <a:avLst/>
          </a:prstGeom>
        </p:spPr>
        <p:txBody>
          <a:bodyPr lIns="0" tIns="0" rIns="0" bIns="0" rtlCol="0" anchor="t">
            <a:spAutoFit/>
          </a:bodyPr>
          <a:lstStyle/>
          <a:p>
            <a:pPr algn="l">
              <a:lnSpc>
                <a:spcPts val="2849"/>
              </a:lnSpc>
            </a:pPr>
            <a:r>
              <a:rPr lang="en-US" sz="1899">
                <a:solidFill>
                  <a:srgbClr val="1E0000"/>
                </a:solidFill>
                <a:latin typeface="Lora"/>
                <a:ea typeface="Lora"/>
                <a:cs typeface="Lora"/>
                <a:sym typeface="Lora"/>
              </a:rPr>
              <a:t>An Integration of AI and Deep Learning models</a:t>
            </a:r>
          </a:p>
          <a:p>
            <a:pPr marL="0" lvl="0" indent="0" algn="l">
              <a:lnSpc>
                <a:spcPts val="2849"/>
              </a:lnSpc>
              <a:spcBef>
                <a:spcPct val="0"/>
              </a:spcBef>
            </a:pPr>
            <a:endParaRPr lang="en-US" sz="1899">
              <a:solidFill>
                <a:srgbClr val="1E0000"/>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grpSp>
        <p:nvGrpSpPr>
          <p:cNvPr id="3" name="Group 3"/>
          <p:cNvGrpSpPr/>
          <p:nvPr/>
        </p:nvGrpSpPr>
        <p:grpSpPr>
          <a:xfrm>
            <a:off x="13719381" y="-1787350"/>
            <a:ext cx="6172812" cy="61728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51765"/>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9439276" y="2518461"/>
            <a:ext cx="8088553" cy="5592218"/>
          </a:xfrm>
          <a:custGeom>
            <a:avLst/>
            <a:gdLst/>
            <a:ahLst/>
            <a:cxnLst/>
            <a:rect l="l" t="t" r="r" b="b"/>
            <a:pathLst>
              <a:path w="8088553" h="5592218">
                <a:moveTo>
                  <a:pt x="0" y="0"/>
                </a:moveTo>
                <a:lnTo>
                  <a:pt x="8088553" y="0"/>
                </a:lnTo>
                <a:lnTo>
                  <a:pt x="8088553" y="5592217"/>
                </a:lnTo>
                <a:lnTo>
                  <a:pt x="0" y="5592217"/>
                </a:lnTo>
                <a:lnTo>
                  <a:pt x="0" y="0"/>
                </a:lnTo>
                <a:close/>
              </a:path>
            </a:pathLst>
          </a:custGeom>
          <a:blipFill>
            <a:blip r:embed="rId3"/>
            <a:stretch>
              <a:fillRect t="-620" r="-8353" b="-3860"/>
            </a:stretch>
          </a:blipFill>
        </p:spPr>
      </p:sp>
      <p:sp>
        <p:nvSpPr>
          <p:cNvPr id="8" name="TextBox 8"/>
          <p:cNvSpPr txBox="1"/>
          <p:nvPr/>
        </p:nvSpPr>
        <p:spPr>
          <a:xfrm>
            <a:off x="774109" y="2714033"/>
            <a:ext cx="8538019" cy="4736825"/>
          </a:xfrm>
          <a:prstGeom prst="rect">
            <a:avLst/>
          </a:prstGeom>
        </p:spPr>
        <p:txBody>
          <a:bodyPr lIns="0" tIns="0" rIns="0" bIns="0" rtlCol="0" anchor="t">
            <a:spAutoFit/>
          </a:bodyPr>
          <a:lstStyle/>
          <a:p>
            <a:pPr algn="l">
              <a:lnSpc>
                <a:spcPts val="4799"/>
              </a:lnSpc>
            </a:pPr>
            <a:r>
              <a:rPr lang="en-US" sz="2399">
                <a:solidFill>
                  <a:srgbClr val="1E0000"/>
                </a:solidFill>
                <a:latin typeface="Lora"/>
                <a:ea typeface="Lora"/>
                <a:cs typeface="Lora"/>
                <a:sym typeface="Lora"/>
              </a:rPr>
              <a:t> </a:t>
            </a:r>
          </a:p>
          <a:p>
            <a:pPr algn="l">
              <a:lnSpc>
                <a:spcPts val="4799"/>
              </a:lnSpc>
            </a:pPr>
            <a:r>
              <a:rPr lang="en-US" sz="2399">
                <a:solidFill>
                  <a:srgbClr val="1E0000"/>
                </a:solidFill>
                <a:latin typeface="Lora"/>
                <a:ea typeface="Lora"/>
                <a:cs typeface="Lora"/>
                <a:sym typeface="Lora"/>
              </a:rPr>
              <a:t> Working of the System</a:t>
            </a:r>
          </a:p>
          <a:p>
            <a:pPr algn="l">
              <a:lnSpc>
                <a:spcPts val="4799"/>
              </a:lnSpc>
            </a:pPr>
            <a:r>
              <a:rPr lang="en-US" sz="2399">
                <a:solidFill>
                  <a:srgbClr val="1E0000"/>
                </a:solidFill>
                <a:latin typeface="Lora"/>
                <a:ea typeface="Lora"/>
                <a:cs typeface="Lora"/>
                <a:sym typeface="Lora"/>
              </a:rPr>
              <a:t>  -  User uploads a facial image.</a:t>
            </a:r>
          </a:p>
          <a:p>
            <a:pPr algn="l">
              <a:lnSpc>
                <a:spcPts val="4799"/>
              </a:lnSpc>
            </a:pPr>
            <a:r>
              <a:rPr lang="en-US" sz="2399">
                <a:solidFill>
                  <a:srgbClr val="1E0000"/>
                </a:solidFill>
                <a:latin typeface="Lora"/>
                <a:ea typeface="Lora"/>
                <a:cs typeface="Lora"/>
                <a:sym typeface="Lora"/>
              </a:rPr>
              <a:t>  - The system detects facial features and analyzes skin condition (e.g., acne, dryness).</a:t>
            </a:r>
          </a:p>
          <a:p>
            <a:pPr algn="l">
              <a:lnSpc>
                <a:spcPts val="4799"/>
              </a:lnSpc>
            </a:pPr>
            <a:r>
              <a:rPr lang="en-US" sz="2399">
                <a:solidFill>
                  <a:srgbClr val="1E0000"/>
                </a:solidFill>
                <a:latin typeface="Lora"/>
                <a:ea typeface="Lora"/>
                <a:cs typeface="Lora"/>
                <a:sym typeface="Lora"/>
              </a:rPr>
              <a:t>  - Based on the analysis, the system suggests skin care products (e.g., moisturizers, acne treatments).</a:t>
            </a:r>
          </a:p>
          <a:p>
            <a:pPr algn="l">
              <a:lnSpc>
                <a:spcPts val="4799"/>
              </a:lnSpc>
              <a:spcBef>
                <a:spcPct val="0"/>
              </a:spcBef>
            </a:pPr>
            <a:endParaRPr lang="en-US" sz="2399">
              <a:solidFill>
                <a:srgbClr val="1E0000"/>
              </a:solidFill>
              <a:latin typeface="Lora"/>
              <a:ea typeface="Lora"/>
              <a:cs typeface="Lora"/>
              <a:sym typeface="Lora"/>
            </a:endParaRPr>
          </a:p>
        </p:txBody>
      </p:sp>
      <p:sp>
        <p:nvSpPr>
          <p:cNvPr id="9" name="TextBox 9"/>
          <p:cNvSpPr txBox="1"/>
          <p:nvPr/>
        </p:nvSpPr>
        <p:spPr>
          <a:xfrm>
            <a:off x="609008" y="731468"/>
            <a:ext cx="12389380" cy="1297100"/>
          </a:xfrm>
          <a:prstGeom prst="rect">
            <a:avLst/>
          </a:prstGeom>
        </p:spPr>
        <p:txBody>
          <a:bodyPr lIns="0" tIns="0" rIns="0" bIns="0" rtlCol="0" anchor="t">
            <a:spAutoFit/>
          </a:bodyPr>
          <a:lstStyle/>
          <a:p>
            <a:pPr algn="l">
              <a:lnSpc>
                <a:spcPts val="9817"/>
              </a:lnSpc>
            </a:pPr>
            <a:r>
              <a:rPr lang="en-US" sz="9625" b="1">
                <a:solidFill>
                  <a:srgbClr val="1E0000"/>
                </a:solidFill>
                <a:latin typeface="Black Mango Bold"/>
                <a:ea typeface="Black Mango Bold"/>
                <a:cs typeface="Black Mango Bold"/>
                <a:sym typeface="Black Mango Bold"/>
              </a:rPr>
              <a:t>ARCHIETECTURE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sp>
        <p:nvSpPr>
          <p:cNvPr id="3" name="Freeform 3"/>
          <p:cNvSpPr/>
          <p:nvPr/>
        </p:nvSpPr>
        <p:spPr>
          <a:xfrm rot="-4901373">
            <a:off x="15692884" y="-122915"/>
            <a:ext cx="4388326" cy="6001035"/>
          </a:xfrm>
          <a:custGeom>
            <a:avLst/>
            <a:gdLst/>
            <a:ahLst/>
            <a:cxnLst/>
            <a:rect l="l" t="t" r="r" b="b"/>
            <a:pathLst>
              <a:path w="4388326" h="6001035">
                <a:moveTo>
                  <a:pt x="0" y="0"/>
                </a:moveTo>
                <a:lnTo>
                  <a:pt x="4388326" y="0"/>
                </a:lnTo>
                <a:lnTo>
                  <a:pt x="4388326" y="6001036"/>
                </a:lnTo>
                <a:lnTo>
                  <a:pt x="0" y="60010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1815911">
            <a:off x="-782615" y="401808"/>
            <a:ext cx="3291523" cy="4501157"/>
          </a:xfrm>
          <a:custGeom>
            <a:avLst/>
            <a:gdLst/>
            <a:ahLst/>
            <a:cxnLst/>
            <a:rect l="l" t="t" r="r" b="b"/>
            <a:pathLst>
              <a:path w="3291523" h="4501157">
                <a:moveTo>
                  <a:pt x="0" y="0"/>
                </a:moveTo>
                <a:lnTo>
                  <a:pt x="3291523" y="0"/>
                </a:lnTo>
                <a:lnTo>
                  <a:pt x="3291523" y="4501158"/>
                </a:lnTo>
                <a:lnTo>
                  <a:pt x="0" y="45011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209279" y="444246"/>
            <a:ext cx="15576812" cy="1365494"/>
          </a:xfrm>
          <a:prstGeom prst="rect">
            <a:avLst/>
          </a:prstGeom>
        </p:spPr>
        <p:txBody>
          <a:bodyPr lIns="0" tIns="0" rIns="0" bIns="0" rtlCol="0" anchor="t">
            <a:spAutoFit/>
          </a:bodyPr>
          <a:lstStyle/>
          <a:p>
            <a:pPr algn="ctr">
              <a:lnSpc>
                <a:spcPts val="10341"/>
              </a:lnSpc>
            </a:pPr>
            <a:r>
              <a:rPr lang="en-US" sz="10139" b="1">
                <a:solidFill>
                  <a:srgbClr val="1E0000"/>
                </a:solidFill>
                <a:latin typeface="Black Mango Bold"/>
                <a:ea typeface="Black Mango Bold"/>
                <a:cs typeface="Black Mango Bold"/>
                <a:sym typeface="Black Mango Bold"/>
              </a:rPr>
              <a:t>SOFTWARES USED</a:t>
            </a:r>
          </a:p>
        </p:txBody>
      </p:sp>
      <p:sp>
        <p:nvSpPr>
          <p:cNvPr id="6" name="TextBox 6"/>
          <p:cNvSpPr txBox="1"/>
          <p:nvPr/>
        </p:nvSpPr>
        <p:spPr>
          <a:xfrm>
            <a:off x="1209279" y="4233155"/>
            <a:ext cx="4556840" cy="3649980"/>
          </a:xfrm>
          <a:prstGeom prst="rect">
            <a:avLst/>
          </a:prstGeom>
        </p:spPr>
        <p:txBody>
          <a:bodyPr lIns="0" tIns="0" rIns="0" bIns="0" rtlCol="0" anchor="t">
            <a:spAutoFit/>
          </a:bodyPr>
          <a:lstStyle/>
          <a:p>
            <a:pPr marL="0" lvl="0" indent="0" algn="ctr">
              <a:lnSpc>
                <a:spcPts val="3299"/>
              </a:lnSpc>
              <a:spcBef>
                <a:spcPct val="0"/>
              </a:spcBef>
            </a:pPr>
            <a:r>
              <a:rPr lang="en-US" sz="2199" b="1">
                <a:solidFill>
                  <a:srgbClr val="1E0000"/>
                </a:solidFill>
                <a:latin typeface="Lora Bold"/>
                <a:ea typeface="Lora Bold"/>
                <a:cs typeface="Lora Bold"/>
                <a:sym typeface="Lora Bold"/>
              </a:rPr>
              <a:t>USER INTERFACE</a:t>
            </a:r>
          </a:p>
          <a:p>
            <a:pPr marL="0" lvl="0" indent="0" algn="ctr">
              <a:lnSpc>
                <a:spcPts val="3299"/>
              </a:lnSpc>
              <a:spcBef>
                <a:spcPct val="0"/>
              </a:spcBef>
            </a:pPr>
            <a:r>
              <a:rPr lang="en-US" sz="2199" u="none">
                <a:solidFill>
                  <a:srgbClr val="1E0000"/>
                </a:solidFill>
                <a:latin typeface="Lora"/>
                <a:ea typeface="Lora"/>
                <a:cs typeface="Lora"/>
                <a:sym typeface="Lora"/>
              </a:rPr>
              <a:t>The User Interface of our Model was made using CSS and HTML</a:t>
            </a:r>
          </a:p>
          <a:p>
            <a:pPr marL="0" lvl="0" indent="0" algn="ctr">
              <a:lnSpc>
                <a:spcPts val="3299"/>
              </a:lnSpc>
              <a:spcBef>
                <a:spcPct val="0"/>
              </a:spcBef>
            </a:pPr>
            <a:r>
              <a:rPr lang="en-US" sz="2199" u="none">
                <a:solidFill>
                  <a:srgbClr val="1E0000"/>
                </a:solidFill>
                <a:latin typeface="Lora"/>
                <a:ea typeface="Lora"/>
                <a:cs typeface="Lora"/>
                <a:sym typeface="Lora"/>
              </a:rPr>
              <a:t>This Helped us make a very interactive and clean Web Application</a:t>
            </a:r>
          </a:p>
          <a:p>
            <a:pPr marL="0" lvl="0" indent="0" algn="ctr">
              <a:lnSpc>
                <a:spcPts val="3299"/>
              </a:lnSpc>
              <a:spcBef>
                <a:spcPct val="0"/>
              </a:spcBef>
            </a:pPr>
            <a:r>
              <a:rPr lang="en-US" sz="2199" b="1" u="none">
                <a:solidFill>
                  <a:srgbClr val="1E0000"/>
                </a:solidFill>
                <a:latin typeface="Lora Bold"/>
                <a:ea typeface="Lora Bold"/>
                <a:cs typeface="Lora Bold"/>
                <a:sym typeface="Lora Bold"/>
              </a:rPr>
              <a:t>In the USER INTERFACE, Communicate with the User and ask for the Picture of the User</a:t>
            </a:r>
          </a:p>
        </p:txBody>
      </p:sp>
      <p:sp>
        <p:nvSpPr>
          <p:cNvPr id="7" name="TextBox 7"/>
          <p:cNvSpPr txBox="1"/>
          <p:nvPr/>
        </p:nvSpPr>
        <p:spPr>
          <a:xfrm>
            <a:off x="6865580" y="3925497"/>
            <a:ext cx="4556840" cy="4255770"/>
          </a:xfrm>
          <a:prstGeom prst="rect">
            <a:avLst/>
          </a:prstGeom>
        </p:spPr>
        <p:txBody>
          <a:bodyPr lIns="0" tIns="0" rIns="0" bIns="0" rtlCol="0" anchor="t">
            <a:spAutoFit/>
          </a:bodyPr>
          <a:lstStyle/>
          <a:p>
            <a:pPr algn="ctr">
              <a:lnSpc>
                <a:spcPts val="3449"/>
              </a:lnSpc>
            </a:pPr>
            <a:r>
              <a:rPr lang="en-US" sz="2299" b="1">
                <a:solidFill>
                  <a:srgbClr val="1E0000"/>
                </a:solidFill>
                <a:latin typeface="Lora Bold"/>
                <a:ea typeface="Lora Bold"/>
                <a:cs typeface="Lora Bold"/>
                <a:sym typeface="Lora Bold"/>
              </a:rPr>
              <a:t>Feature Extraction:</a:t>
            </a:r>
            <a:r>
              <a:rPr lang="en-US" sz="2299">
                <a:solidFill>
                  <a:srgbClr val="1E0000"/>
                </a:solidFill>
                <a:latin typeface="Lora"/>
                <a:ea typeface="Lora"/>
                <a:cs typeface="Lora"/>
                <a:sym typeface="Lora"/>
              </a:rPr>
              <a:t> </a:t>
            </a:r>
          </a:p>
          <a:p>
            <a:pPr algn="ctr">
              <a:lnSpc>
                <a:spcPts val="3449"/>
              </a:lnSpc>
            </a:pPr>
            <a:r>
              <a:rPr lang="en-US" sz="2299" b="1">
                <a:solidFill>
                  <a:srgbClr val="1E0000"/>
                </a:solidFill>
                <a:latin typeface="Lora Bold"/>
                <a:ea typeface="Lora Bold"/>
                <a:cs typeface="Lora Bold"/>
                <a:sym typeface="Lora Bold"/>
              </a:rPr>
              <a:t>convolutional neural networks (CNNs</a:t>
            </a:r>
            <a:r>
              <a:rPr lang="en-US" sz="2299">
                <a:solidFill>
                  <a:srgbClr val="1E0000"/>
                </a:solidFill>
                <a:latin typeface="Lora"/>
                <a:ea typeface="Lora"/>
                <a:cs typeface="Lora"/>
                <a:sym typeface="Lora"/>
              </a:rPr>
              <a:t>) to detect facial features and skin conditions</a:t>
            </a:r>
          </a:p>
          <a:p>
            <a:pPr algn="ctr">
              <a:lnSpc>
                <a:spcPts val="3449"/>
              </a:lnSpc>
            </a:pPr>
            <a:r>
              <a:rPr lang="en-US" sz="2299">
                <a:solidFill>
                  <a:srgbClr val="1E0000"/>
                </a:solidFill>
                <a:latin typeface="Lora"/>
                <a:ea typeface="Lora"/>
                <a:cs typeface="Lora"/>
                <a:sym typeface="Lora"/>
              </a:rPr>
              <a:t>As per the judgement and Accuracy Gained by the following model after going through alot of Datasets from Dermnet and ISIC</a:t>
            </a:r>
          </a:p>
          <a:p>
            <a:pPr marL="0" lvl="0" indent="0" algn="ctr">
              <a:lnSpc>
                <a:spcPts val="3449"/>
              </a:lnSpc>
              <a:spcBef>
                <a:spcPct val="0"/>
              </a:spcBef>
            </a:pPr>
            <a:r>
              <a:rPr lang="en-US" sz="2299">
                <a:solidFill>
                  <a:srgbClr val="1E0000"/>
                </a:solidFill>
                <a:latin typeface="Lora"/>
                <a:ea typeface="Lora"/>
                <a:cs typeface="Lora"/>
                <a:sym typeface="Lora"/>
              </a:rPr>
              <a:t>We Have gained an accuracy of 84% </a:t>
            </a:r>
          </a:p>
        </p:txBody>
      </p:sp>
      <p:sp>
        <p:nvSpPr>
          <p:cNvPr id="8" name="TextBox 8"/>
          <p:cNvSpPr txBox="1"/>
          <p:nvPr/>
        </p:nvSpPr>
        <p:spPr>
          <a:xfrm>
            <a:off x="12517795" y="5086350"/>
            <a:ext cx="4556840" cy="1255395"/>
          </a:xfrm>
          <a:prstGeom prst="rect">
            <a:avLst/>
          </a:prstGeom>
        </p:spPr>
        <p:txBody>
          <a:bodyPr lIns="0" tIns="0" rIns="0" bIns="0" rtlCol="0" anchor="t">
            <a:spAutoFit/>
          </a:bodyPr>
          <a:lstStyle/>
          <a:p>
            <a:pPr algn="ctr">
              <a:lnSpc>
                <a:spcPts val="3449"/>
              </a:lnSpc>
            </a:pPr>
            <a:r>
              <a:rPr lang="en-US" sz="2299" b="1">
                <a:solidFill>
                  <a:srgbClr val="1E0000"/>
                </a:solidFill>
                <a:latin typeface="Lora Bold"/>
                <a:ea typeface="Lora Bold"/>
                <a:cs typeface="Lora Bold"/>
                <a:sym typeface="Lora Bold"/>
              </a:rPr>
              <a:t>Recommendation System</a:t>
            </a:r>
            <a:r>
              <a:rPr lang="en-US" sz="2299">
                <a:solidFill>
                  <a:srgbClr val="1E0000"/>
                </a:solidFill>
                <a:latin typeface="Lora"/>
                <a:ea typeface="Lora"/>
                <a:cs typeface="Lora"/>
                <a:sym typeface="Lora"/>
              </a:rPr>
              <a:t>: </a:t>
            </a:r>
          </a:p>
          <a:p>
            <a:pPr marL="0" lvl="0" indent="0" algn="ctr">
              <a:lnSpc>
                <a:spcPts val="3449"/>
              </a:lnSpc>
              <a:spcBef>
                <a:spcPct val="0"/>
              </a:spcBef>
            </a:pPr>
            <a:r>
              <a:rPr lang="en-US" sz="2299">
                <a:solidFill>
                  <a:srgbClr val="1E0000"/>
                </a:solidFill>
                <a:latin typeface="Lora"/>
                <a:ea typeface="Lora"/>
                <a:cs typeface="Lora"/>
                <a:sym typeface="Lora"/>
              </a:rPr>
              <a:t>Recommendation Systems are developed by Deepseek r1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grpSp>
        <p:nvGrpSpPr>
          <p:cNvPr id="3" name="Group 3"/>
          <p:cNvGrpSpPr/>
          <p:nvPr/>
        </p:nvGrpSpPr>
        <p:grpSpPr>
          <a:xfrm>
            <a:off x="14102994" y="4645474"/>
            <a:ext cx="5641526" cy="564152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5" name="TextBox 5"/>
            <p:cNvSpPr txBox="1"/>
            <p:nvPr/>
          </p:nvSpPr>
          <p:spPr>
            <a:xfrm>
              <a:off x="76200" y="38100"/>
              <a:ext cx="660400" cy="698500"/>
            </a:xfrm>
            <a:prstGeom prst="rect">
              <a:avLst/>
            </a:prstGeom>
          </p:spPr>
          <p:txBody>
            <a:bodyPr lIns="47674" tIns="47674" rIns="47674" bIns="47674" rtlCol="0" anchor="ctr"/>
            <a:lstStyle/>
            <a:p>
              <a:pPr algn="ctr">
                <a:lnSpc>
                  <a:spcPts val="2660"/>
                </a:lnSpc>
                <a:spcBef>
                  <a:spcPct val="0"/>
                </a:spcBef>
              </a:pPr>
              <a:endParaRPr/>
            </a:p>
          </p:txBody>
        </p:sp>
      </p:grpSp>
      <p:grpSp>
        <p:nvGrpSpPr>
          <p:cNvPr id="6" name="Group 6"/>
          <p:cNvGrpSpPr/>
          <p:nvPr/>
        </p:nvGrpSpPr>
        <p:grpSpPr>
          <a:xfrm>
            <a:off x="-2148380" y="-101393"/>
            <a:ext cx="5641526" cy="564152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8B7">
                <a:alpha val="80000"/>
              </a:srgbClr>
            </a:solidFill>
          </p:spPr>
        </p:sp>
        <p:sp>
          <p:nvSpPr>
            <p:cNvPr id="8" name="TextBox 8"/>
            <p:cNvSpPr txBox="1"/>
            <p:nvPr/>
          </p:nvSpPr>
          <p:spPr>
            <a:xfrm>
              <a:off x="76200" y="38100"/>
              <a:ext cx="660400" cy="698500"/>
            </a:xfrm>
            <a:prstGeom prst="rect">
              <a:avLst/>
            </a:prstGeom>
          </p:spPr>
          <p:txBody>
            <a:bodyPr lIns="47674" tIns="47674" rIns="47674" bIns="47674" rtlCol="0" anchor="ctr"/>
            <a:lstStyle/>
            <a:p>
              <a:pPr algn="ctr">
                <a:lnSpc>
                  <a:spcPts val="2660"/>
                </a:lnSpc>
                <a:spcBef>
                  <a:spcPct val="0"/>
                </a:spcBef>
              </a:pPr>
              <a:endParaRPr/>
            </a:p>
          </p:txBody>
        </p:sp>
      </p:grpSp>
      <p:sp>
        <p:nvSpPr>
          <p:cNvPr id="9" name="Freeform 9"/>
          <p:cNvSpPr/>
          <p:nvPr/>
        </p:nvSpPr>
        <p:spPr>
          <a:xfrm rot="-8100000">
            <a:off x="15768139" y="-788743"/>
            <a:ext cx="3322763" cy="4543878"/>
          </a:xfrm>
          <a:custGeom>
            <a:avLst/>
            <a:gdLst/>
            <a:ahLst/>
            <a:cxnLst/>
            <a:rect l="l" t="t" r="r" b="b"/>
            <a:pathLst>
              <a:path w="3322763" h="4543878">
                <a:moveTo>
                  <a:pt x="0" y="0"/>
                </a:moveTo>
                <a:lnTo>
                  <a:pt x="3322763" y="0"/>
                </a:lnTo>
                <a:lnTo>
                  <a:pt x="3322763" y="4543878"/>
                </a:lnTo>
                <a:lnTo>
                  <a:pt x="0" y="45438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1652881">
            <a:off x="-687712" y="8427069"/>
            <a:ext cx="2720191" cy="3719862"/>
          </a:xfrm>
          <a:custGeom>
            <a:avLst/>
            <a:gdLst/>
            <a:ahLst/>
            <a:cxnLst/>
            <a:rect l="l" t="t" r="r" b="b"/>
            <a:pathLst>
              <a:path w="2720191" h="3719862">
                <a:moveTo>
                  <a:pt x="0" y="0"/>
                </a:moveTo>
                <a:lnTo>
                  <a:pt x="2720191" y="0"/>
                </a:lnTo>
                <a:lnTo>
                  <a:pt x="2720191" y="3719862"/>
                </a:lnTo>
                <a:lnTo>
                  <a:pt x="0" y="37198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672383" y="511651"/>
            <a:ext cx="14346650" cy="1237755"/>
          </a:xfrm>
          <a:prstGeom prst="rect">
            <a:avLst/>
          </a:prstGeom>
        </p:spPr>
        <p:txBody>
          <a:bodyPr lIns="0" tIns="0" rIns="0" bIns="0" rtlCol="0" anchor="t">
            <a:spAutoFit/>
          </a:bodyPr>
          <a:lstStyle/>
          <a:p>
            <a:pPr algn="ctr">
              <a:lnSpc>
                <a:spcPts val="9354"/>
              </a:lnSpc>
            </a:pPr>
            <a:r>
              <a:rPr lang="en-US" sz="9170" b="1">
                <a:solidFill>
                  <a:srgbClr val="1E0000"/>
                </a:solidFill>
                <a:latin typeface="Black Mango Bold"/>
                <a:ea typeface="Black Mango Bold"/>
                <a:cs typeface="Black Mango Bold"/>
                <a:sym typeface="Black Mango Bold"/>
              </a:rPr>
              <a:t>Challenges Faced</a:t>
            </a:r>
          </a:p>
        </p:txBody>
      </p:sp>
      <p:sp>
        <p:nvSpPr>
          <p:cNvPr id="12" name="TextBox 12"/>
          <p:cNvSpPr txBox="1"/>
          <p:nvPr/>
        </p:nvSpPr>
        <p:spPr>
          <a:xfrm>
            <a:off x="1715442" y="2214767"/>
            <a:ext cx="13873349" cy="7181406"/>
          </a:xfrm>
          <a:prstGeom prst="rect">
            <a:avLst/>
          </a:prstGeom>
        </p:spPr>
        <p:txBody>
          <a:bodyPr lIns="0" tIns="0" rIns="0" bIns="0" rtlCol="0" anchor="t">
            <a:spAutoFit/>
          </a:bodyPr>
          <a:lstStyle/>
          <a:p>
            <a:pPr algn="ctr">
              <a:lnSpc>
                <a:spcPts val="8267"/>
              </a:lnSpc>
            </a:pPr>
            <a:endParaRPr/>
          </a:p>
          <a:p>
            <a:pPr algn="l">
              <a:lnSpc>
                <a:spcPts val="6767"/>
              </a:lnSpc>
            </a:pPr>
            <a:r>
              <a:rPr lang="en-US" sz="4511" b="1">
                <a:solidFill>
                  <a:srgbClr val="1E0000"/>
                </a:solidFill>
                <a:latin typeface="Lora Bold"/>
                <a:ea typeface="Lora Bold"/>
                <a:cs typeface="Lora Bold"/>
                <a:sym typeface="Lora Bold"/>
              </a:rPr>
              <a:t>Data Quality</a:t>
            </a:r>
            <a:r>
              <a:rPr lang="en-US" sz="4511">
                <a:solidFill>
                  <a:srgbClr val="1E0000"/>
                </a:solidFill>
                <a:latin typeface="Lora"/>
                <a:ea typeface="Lora"/>
                <a:cs typeface="Lora"/>
                <a:sym typeface="Lora"/>
              </a:rPr>
              <a:t>: Difficulty in gathering diverse, high-quality skin images.</a:t>
            </a:r>
          </a:p>
          <a:p>
            <a:pPr algn="l">
              <a:lnSpc>
                <a:spcPts val="6767"/>
              </a:lnSpc>
            </a:pPr>
            <a:r>
              <a:rPr lang="en-US" sz="4511" b="1">
                <a:solidFill>
                  <a:srgbClr val="1E0000"/>
                </a:solidFill>
                <a:latin typeface="Lora Bold"/>
                <a:ea typeface="Lora Bold"/>
                <a:cs typeface="Lora Bold"/>
                <a:sym typeface="Lora Bold"/>
              </a:rPr>
              <a:t>Model Accuracy</a:t>
            </a:r>
            <a:r>
              <a:rPr lang="en-US" sz="4511">
                <a:solidFill>
                  <a:srgbClr val="1E0000"/>
                </a:solidFill>
                <a:latin typeface="Lora"/>
                <a:ea typeface="Lora"/>
                <a:cs typeface="Lora"/>
                <a:sym typeface="Lora"/>
              </a:rPr>
              <a:t>: Ensuring the model gives accurate recommendations.</a:t>
            </a:r>
          </a:p>
          <a:p>
            <a:pPr algn="l">
              <a:lnSpc>
                <a:spcPts val="6767"/>
              </a:lnSpc>
            </a:pPr>
            <a:r>
              <a:rPr lang="en-US" sz="4511" b="1">
                <a:solidFill>
                  <a:srgbClr val="1E0000"/>
                </a:solidFill>
                <a:latin typeface="Lora Bold"/>
                <a:ea typeface="Lora Bold"/>
                <a:cs typeface="Lora Bold"/>
                <a:sym typeface="Lora Bold"/>
              </a:rPr>
              <a:t>Real-World Variability</a:t>
            </a:r>
            <a:r>
              <a:rPr lang="en-US" sz="4511">
                <a:solidFill>
                  <a:srgbClr val="1E0000"/>
                </a:solidFill>
                <a:latin typeface="Lora"/>
                <a:ea typeface="Lora"/>
                <a:cs typeface="Lora"/>
                <a:sym typeface="Lora"/>
              </a:rPr>
              <a:t>: Skin care needs vary significantly from person to person.</a:t>
            </a:r>
          </a:p>
          <a:p>
            <a:pPr marL="0" lvl="0" indent="0" algn="ctr">
              <a:lnSpc>
                <a:spcPts val="8267"/>
              </a:lnSpc>
              <a:spcBef>
                <a:spcPct val="0"/>
              </a:spcBef>
            </a:pPr>
            <a:endParaRPr lang="en-US" sz="4511">
              <a:solidFill>
                <a:srgbClr val="1E0000"/>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sp>
        <p:nvSpPr>
          <p:cNvPr id="3" name="Freeform 3"/>
          <p:cNvSpPr/>
          <p:nvPr/>
        </p:nvSpPr>
        <p:spPr>
          <a:xfrm rot="-4901373">
            <a:off x="15692884" y="-122915"/>
            <a:ext cx="4388326" cy="6001035"/>
          </a:xfrm>
          <a:custGeom>
            <a:avLst/>
            <a:gdLst/>
            <a:ahLst/>
            <a:cxnLst/>
            <a:rect l="l" t="t" r="r" b="b"/>
            <a:pathLst>
              <a:path w="4388326" h="6001035">
                <a:moveTo>
                  <a:pt x="0" y="0"/>
                </a:moveTo>
                <a:lnTo>
                  <a:pt x="4388326" y="0"/>
                </a:lnTo>
                <a:lnTo>
                  <a:pt x="4388326" y="6001036"/>
                </a:lnTo>
                <a:lnTo>
                  <a:pt x="0" y="60010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1815911">
            <a:off x="-782615" y="401808"/>
            <a:ext cx="3291523" cy="4501157"/>
          </a:xfrm>
          <a:custGeom>
            <a:avLst/>
            <a:gdLst/>
            <a:ahLst/>
            <a:cxnLst/>
            <a:rect l="l" t="t" r="r" b="b"/>
            <a:pathLst>
              <a:path w="3291523" h="4501157">
                <a:moveTo>
                  <a:pt x="0" y="0"/>
                </a:moveTo>
                <a:lnTo>
                  <a:pt x="3291523" y="0"/>
                </a:lnTo>
                <a:lnTo>
                  <a:pt x="3291523" y="4501158"/>
                </a:lnTo>
                <a:lnTo>
                  <a:pt x="0" y="45011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3797819" y="2241662"/>
            <a:ext cx="10399731" cy="3421970"/>
          </a:xfrm>
          <a:custGeom>
            <a:avLst/>
            <a:gdLst/>
            <a:ahLst/>
            <a:cxnLst/>
            <a:rect l="l" t="t" r="r" b="b"/>
            <a:pathLst>
              <a:path w="10399731" h="3421970">
                <a:moveTo>
                  <a:pt x="0" y="0"/>
                </a:moveTo>
                <a:lnTo>
                  <a:pt x="10399731" y="0"/>
                </a:lnTo>
                <a:lnTo>
                  <a:pt x="10399731" y="3421970"/>
                </a:lnTo>
                <a:lnTo>
                  <a:pt x="0" y="3421970"/>
                </a:lnTo>
                <a:lnTo>
                  <a:pt x="0" y="0"/>
                </a:lnTo>
                <a:close/>
              </a:path>
            </a:pathLst>
          </a:custGeom>
          <a:blipFill>
            <a:blip r:embed="rId5"/>
            <a:stretch>
              <a:fillRect/>
            </a:stretch>
          </a:blipFill>
        </p:spPr>
      </p:sp>
      <p:sp>
        <p:nvSpPr>
          <p:cNvPr id="7" name="TextBox 7"/>
          <p:cNvSpPr txBox="1"/>
          <p:nvPr/>
        </p:nvSpPr>
        <p:spPr>
          <a:xfrm>
            <a:off x="1209279" y="444246"/>
            <a:ext cx="15576812" cy="1365494"/>
          </a:xfrm>
          <a:prstGeom prst="rect">
            <a:avLst/>
          </a:prstGeom>
        </p:spPr>
        <p:txBody>
          <a:bodyPr lIns="0" tIns="0" rIns="0" bIns="0" rtlCol="0" anchor="t">
            <a:spAutoFit/>
          </a:bodyPr>
          <a:lstStyle/>
          <a:p>
            <a:pPr algn="ctr">
              <a:lnSpc>
                <a:spcPts val="10341"/>
              </a:lnSpc>
            </a:pPr>
            <a:r>
              <a:rPr lang="en-US" sz="10139" b="1">
                <a:solidFill>
                  <a:srgbClr val="1E0000"/>
                </a:solidFill>
                <a:latin typeface="Black Mango Bold"/>
                <a:ea typeface="Black Mango Bold"/>
                <a:cs typeface="Black Mango Bold"/>
                <a:sym typeface="Black Mango Bold"/>
              </a:rPr>
              <a:t>RESULTS</a:t>
            </a:r>
          </a:p>
        </p:txBody>
      </p:sp>
      <p:sp>
        <p:nvSpPr>
          <p:cNvPr id="8" name="TextBox 8"/>
          <p:cNvSpPr txBox="1"/>
          <p:nvPr/>
        </p:nvSpPr>
        <p:spPr>
          <a:xfrm>
            <a:off x="3418892" y="1743065"/>
            <a:ext cx="12209242" cy="385240"/>
          </a:xfrm>
          <a:prstGeom prst="rect">
            <a:avLst/>
          </a:prstGeom>
        </p:spPr>
        <p:txBody>
          <a:bodyPr lIns="0" tIns="0" rIns="0" bIns="0" rtlCol="0" anchor="t">
            <a:spAutoFit/>
          </a:bodyPr>
          <a:lstStyle/>
          <a:p>
            <a:pPr marL="0" lvl="0" indent="0" algn="l">
              <a:lnSpc>
                <a:spcPts val="3208"/>
              </a:lnSpc>
              <a:spcBef>
                <a:spcPct val="0"/>
              </a:spcBef>
            </a:pPr>
            <a:r>
              <a:rPr lang="en-US" sz="2138">
                <a:solidFill>
                  <a:srgbClr val="1E0000"/>
                </a:solidFill>
                <a:latin typeface="Lora"/>
                <a:ea typeface="Lora"/>
                <a:cs typeface="Lora"/>
                <a:sym typeface="Lora"/>
              </a:rPr>
              <a:t>The model was able to recommend appropriate products with reasonable accuracy.</a:t>
            </a:r>
          </a:p>
        </p:txBody>
      </p:sp>
      <p:sp>
        <p:nvSpPr>
          <p:cNvPr id="9" name="TextBox 9"/>
          <p:cNvSpPr txBox="1"/>
          <p:nvPr/>
        </p:nvSpPr>
        <p:spPr>
          <a:xfrm>
            <a:off x="3934361" y="7291573"/>
            <a:ext cx="10824458" cy="2291640"/>
          </a:xfrm>
          <a:prstGeom prst="rect">
            <a:avLst/>
          </a:prstGeom>
        </p:spPr>
        <p:txBody>
          <a:bodyPr lIns="0" tIns="0" rIns="0" bIns="0" rtlCol="0" anchor="t">
            <a:spAutoFit/>
          </a:bodyPr>
          <a:lstStyle/>
          <a:p>
            <a:pPr algn="l">
              <a:lnSpc>
                <a:spcPts val="3730"/>
              </a:lnSpc>
            </a:pPr>
            <a:r>
              <a:rPr lang="en-US" sz="2487">
                <a:solidFill>
                  <a:srgbClr val="1E0000"/>
                </a:solidFill>
                <a:latin typeface="Lora"/>
                <a:ea typeface="Lora"/>
                <a:cs typeface="Lora"/>
                <a:sym typeface="Lora"/>
              </a:rPr>
              <a:t>- Expand dataset to cover more skin types and conditions.</a:t>
            </a:r>
          </a:p>
          <a:p>
            <a:pPr algn="l">
              <a:lnSpc>
                <a:spcPts val="3730"/>
              </a:lnSpc>
            </a:pPr>
            <a:r>
              <a:rPr lang="en-US" sz="2487">
                <a:solidFill>
                  <a:srgbClr val="1E0000"/>
                </a:solidFill>
                <a:latin typeface="Lora"/>
                <a:ea typeface="Lora"/>
                <a:cs typeface="Lora"/>
                <a:sym typeface="Lora"/>
              </a:rPr>
              <a:t> - Use more advanced machine learning models (e.g., deep learning models) for improved accuracy.</a:t>
            </a:r>
          </a:p>
          <a:p>
            <a:pPr algn="l">
              <a:lnSpc>
                <a:spcPts val="3730"/>
              </a:lnSpc>
              <a:spcBef>
                <a:spcPct val="0"/>
              </a:spcBef>
            </a:pPr>
            <a:r>
              <a:rPr lang="en-US" sz="2487">
                <a:solidFill>
                  <a:srgbClr val="1E0000"/>
                </a:solidFill>
                <a:latin typeface="Lora"/>
                <a:ea typeface="Lora"/>
                <a:cs typeface="Lora"/>
                <a:sym typeface="Lora"/>
              </a:rPr>
              <a:t> - Implement real-time feedback from users to refine recommendations over time.</a:t>
            </a:r>
          </a:p>
        </p:txBody>
      </p:sp>
      <p:sp>
        <p:nvSpPr>
          <p:cNvPr id="10" name="TextBox 10"/>
          <p:cNvSpPr txBox="1"/>
          <p:nvPr/>
        </p:nvSpPr>
        <p:spPr>
          <a:xfrm>
            <a:off x="2623799" y="5919864"/>
            <a:ext cx="13040403" cy="1143805"/>
          </a:xfrm>
          <a:prstGeom prst="rect">
            <a:avLst/>
          </a:prstGeom>
        </p:spPr>
        <p:txBody>
          <a:bodyPr lIns="0" tIns="0" rIns="0" bIns="0" rtlCol="0" anchor="t">
            <a:spAutoFit/>
          </a:bodyPr>
          <a:lstStyle/>
          <a:p>
            <a:pPr algn="ctr">
              <a:lnSpc>
                <a:spcPts val="8657"/>
              </a:lnSpc>
            </a:pPr>
            <a:r>
              <a:rPr lang="en-US" sz="8488" b="1">
                <a:solidFill>
                  <a:srgbClr val="1E0000"/>
                </a:solidFill>
                <a:latin typeface="Black Mango Bold"/>
                <a:ea typeface="Black Mango Bold"/>
                <a:cs typeface="Black Mango Bold"/>
                <a:sym typeface="Black Mango Bold"/>
              </a:rPr>
              <a:t> IMPROVEMENTS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sp>
        <p:nvSpPr>
          <p:cNvPr id="3" name="Freeform 3"/>
          <p:cNvSpPr/>
          <p:nvPr/>
        </p:nvSpPr>
        <p:spPr>
          <a:xfrm rot="-4901373">
            <a:off x="15692884" y="-122915"/>
            <a:ext cx="4388326" cy="6001035"/>
          </a:xfrm>
          <a:custGeom>
            <a:avLst/>
            <a:gdLst/>
            <a:ahLst/>
            <a:cxnLst/>
            <a:rect l="l" t="t" r="r" b="b"/>
            <a:pathLst>
              <a:path w="4388326" h="6001035">
                <a:moveTo>
                  <a:pt x="0" y="0"/>
                </a:moveTo>
                <a:lnTo>
                  <a:pt x="4388326" y="0"/>
                </a:lnTo>
                <a:lnTo>
                  <a:pt x="4388326" y="6001036"/>
                </a:lnTo>
                <a:lnTo>
                  <a:pt x="0" y="60010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1815911">
            <a:off x="-782615" y="401808"/>
            <a:ext cx="3291523" cy="4501157"/>
          </a:xfrm>
          <a:custGeom>
            <a:avLst/>
            <a:gdLst/>
            <a:ahLst/>
            <a:cxnLst/>
            <a:rect l="l" t="t" r="r" b="b"/>
            <a:pathLst>
              <a:path w="3291523" h="4501157">
                <a:moveTo>
                  <a:pt x="0" y="0"/>
                </a:moveTo>
                <a:lnTo>
                  <a:pt x="3291523" y="0"/>
                </a:lnTo>
                <a:lnTo>
                  <a:pt x="3291523" y="4501158"/>
                </a:lnTo>
                <a:lnTo>
                  <a:pt x="0" y="45011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209279" y="1907399"/>
            <a:ext cx="15576812" cy="1365494"/>
          </a:xfrm>
          <a:prstGeom prst="rect">
            <a:avLst/>
          </a:prstGeom>
        </p:spPr>
        <p:txBody>
          <a:bodyPr lIns="0" tIns="0" rIns="0" bIns="0" rtlCol="0" anchor="t">
            <a:spAutoFit/>
          </a:bodyPr>
          <a:lstStyle/>
          <a:p>
            <a:pPr algn="ctr">
              <a:lnSpc>
                <a:spcPts val="10341"/>
              </a:lnSpc>
            </a:pPr>
            <a:r>
              <a:rPr lang="en-US" sz="10139" b="1">
                <a:solidFill>
                  <a:srgbClr val="1E0000"/>
                </a:solidFill>
                <a:latin typeface="Black Mango Bold"/>
                <a:ea typeface="Black Mango Bold"/>
                <a:cs typeface="Black Mango Bold"/>
                <a:sym typeface="Black Mango Bold"/>
              </a:rPr>
              <a:t>Conclusion</a:t>
            </a:r>
          </a:p>
        </p:txBody>
      </p:sp>
      <p:sp>
        <p:nvSpPr>
          <p:cNvPr id="6" name="TextBox 6"/>
          <p:cNvSpPr txBox="1"/>
          <p:nvPr/>
        </p:nvSpPr>
        <p:spPr>
          <a:xfrm>
            <a:off x="2893064" y="4367034"/>
            <a:ext cx="12209242" cy="2644570"/>
          </a:xfrm>
          <a:prstGeom prst="rect">
            <a:avLst/>
          </a:prstGeom>
        </p:spPr>
        <p:txBody>
          <a:bodyPr lIns="0" tIns="0" rIns="0" bIns="0" rtlCol="0" anchor="t">
            <a:spAutoFit/>
          </a:bodyPr>
          <a:lstStyle/>
          <a:p>
            <a:pPr algn="l">
              <a:lnSpc>
                <a:spcPts val="4258"/>
              </a:lnSpc>
            </a:pPr>
            <a:r>
              <a:rPr lang="en-US" sz="2838" b="1">
                <a:solidFill>
                  <a:srgbClr val="1E0000"/>
                </a:solidFill>
                <a:latin typeface="Lora Bold"/>
                <a:ea typeface="Lora Bold"/>
                <a:cs typeface="Lora Bold"/>
                <a:sym typeface="Lora Bold"/>
              </a:rPr>
              <a:t> </a:t>
            </a:r>
            <a:r>
              <a:rPr lang="en-US" sz="2838">
                <a:solidFill>
                  <a:srgbClr val="1E0000"/>
                </a:solidFill>
                <a:latin typeface="Lora"/>
                <a:ea typeface="Lora"/>
                <a:cs typeface="Lora"/>
                <a:sym typeface="Lora"/>
              </a:rPr>
              <a:t>- This project demonstrates the application of machine learning to personalize skin care recommendations.</a:t>
            </a:r>
          </a:p>
          <a:p>
            <a:pPr algn="l">
              <a:lnSpc>
                <a:spcPts val="4258"/>
              </a:lnSpc>
            </a:pPr>
            <a:r>
              <a:rPr lang="en-US" sz="2838">
                <a:solidFill>
                  <a:srgbClr val="1E0000"/>
                </a:solidFill>
                <a:latin typeface="Lora"/>
                <a:ea typeface="Lora"/>
                <a:cs typeface="Lora"/>
                <a:sym typeface="Lora"/>
              </a:rPr>
              <a:t>  - It can help users select products tailored to their skin's unique needs.</a:t>
            </a:r>
          </a:p>
          <a:p>
            <a:pPr algn="l">
              <a:lnSpc>
                <a:spcPts val="4258"/>
              </a:lnSpc>
            </a:pPr>
            <a:r>
              <a:rPr lang="en-US" sz="2838">
                <a:solidFill>
                  <a:srgbClr val="1E0000"/>
                </a:solidFill>
                <a:latin typeface="Lora"/>
                <a:ea typeface="Lora"/>
                <a:cs typeface="Lora"/>
                <a:sym typeface="Lora"/>
              </a:rPr>
              <a:t>  - Thank you for your attention. I am happy to answer any questions!</a:t>
            </a:r>
          </a:p>
          <a:p>
            <a:pPr marL="0" lvl="0" indent="0" algn="l">
              <a:lnSpc>
                <a:spcPts val="4258"/>
              </a:lnSpc>
              <a:spcBef>
                <a:spcPct val="0"/>
              </a:spcBef>
            </a:pPr>
            <a:endParaRPr lang="en-US" sz="2838">
              <a:solidFill>
                <a:srgbClr val="1E0000"/>
              </a:solidFill>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333"/>
            </a:stretch>
          </a:blipFill>
        </p:spPr>
      </p:sp>
      <p:sp>
        <p:nvSpPr>
          <p:cNvPr id="3" name="Freeform 3"/>
          <p:cNvSpPr/>
          <p:nvPr/>
        </p:nvSpPr>
        <p:spPr>
          <a:xfrm rot="1584402">
            <a:off x="159593" y="5924050"/>
            <a:ext cx="4876417" cy="6668500"/>
          </a:xfrm>
          <a:custGeom>
            <a:avLst/>
            <a:gdLst/>
            <a:ahLst/>
            <a:cxnLst/>
            <a:rect l="l" t="t" r="r" b="b"/>
            <a:pathLst>
              <a:path w="4876417" h="6668500">
                <a:moveTo>
                  <a:pt x="0" y="0"/>
                </a:moveTo>
                <a:lnTo>
                  <a:pt x="4876417" y="0"/>
                </a:lnTo>
                <a:lnTo>
                  <a:pt x="4876417" y="6668500"/>
                </a:lnTo>
                <a:lnTo>
                  <a:pt x="0" y="6668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7919183">
            <a:off x="16625153" y="-2386819"/>
            <a:ext cx="4392016" cy="6006082"/>
          </a:xfrm>
          <a:custGeom>
            <a:avLst/>
            <a:gdLst/>
            <a:ahLst/>
            <a:cxnLst/>
            <a:rect l="l" t="t" r="r" b="b"/>
            <a:pathLst>
              <a:path w="4392016" h="6006082">
                <a:moveTo>
                  <a:pt x="0" y="0"/>
                </a:moveTo>
                <a:lnTo>
                  <a:pt x="4392015" y="0"/>
                </a:lnTo>
                <a:lnTo>
                  <a:pt x="4392015" y="6006082"/>
                </a:lnTo>
                <a:lnTo>
                  <a:pt x="0" y="60060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4941745" y="4597490"/>
            <a:ext cx="7337831" cy="1349195"/>
          </a:xfrm>
          <a:prstGeom prst="rect">
            <a:avLst/>
          </a:prstGeom>
        </p:spPr>
        <p:txBody>
          <a:bodyPr lIns="0" tIns="0" rIns="0" bIns="0" rtlCol="0" anchor="t">
            <a:spAutoFit/>
          </a:bodyPr>
          <a:lstStyle/>
          <a:p>
            <a:pPr marL="0" lvl="0" indent="0" algn="l">
              <a:lnSpc>
                <a:spcPts val="9913"/>
              </a:lnSpc>
            </a:pPr>
            <a:r>
              <a:rPr lang="en-US" sz="10546" b="1">
                <a:solidFill>
                  <a:srgbClr val="1E0000"/>
                </a:solidFill>
                <a:latin typeface="Black Mango Bold"/>
                <a:ea typeface="Black Mango Bold"/>
                <a:cs typeface="Black Mango Bold"/>
                <a:sym typeface="Black Mang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948</Words>
  <Application>Microsoft Office PowerPoint</Application>
  <PresentationFormat>Custom</PresentationFormat>
  <Paragraphs>108</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Black Mango</vt:lpstr>
      <vt:lpstr>Arimo Bold</vt:lpstr>
      <vt:lpstr>Lora</vt:lpstr>
      <vt:lpstr>Lora Bold</vt:lpstr>
      <vt:lpstr>Arimo</vt:lpstr>
      <vt:lpstr>Calibri</vt:lpstr>
      <vt:lpstr>Arial</vt:lpstr>
      <vt:lpstr>Black Mango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FInalPresentationPPT</dc:title>
  <cp:lastModifiedBy>SHAIK MOHAMMAD SHAHEED</cp:lastModifiedBy>
  <cp:revision>2</cp:revision>
  <dcterms:created xsi:type="dcterms:W3CDTF">2006-08-16T00:00:00Z</dcterms:created>
  <dcterms:modified xsi:type="dcterms:W3CDTF">2025-11-14T09:12:51Z</dcterms:modified>
  <dc:identifier>DAGlPsIcMlE</dc:identifier>
</cp:coreProperties>
</file>